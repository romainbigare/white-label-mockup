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1.7.2. 60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60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19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Review 21/09 took the word “first” out of the title — there is a later option to add a second farm, so the idea of a first one is noise this early — and turned the hint under the two numbers into a quiet “I’m not sure”, which skips the estimate and goes straight to locating the farm.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Rebuilt at review 21/09 out of A17’s own layout: Mark struck the old price-estimate screen through and made its replacement by duplicating the plan page. The two real plans at their two real prices, presented as an estimate, with NOTHING to choose — the radio buttons came off, because the plan is picked later on A17 once the survey has priced the real farm. Under them, the four steps in the reviewer’s own order, which is where the app says plan selection comes last. The call calls this screen A13a; the two plan screens are told apart by their titles rather than by a letter.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Locate your farm
The first half of what used to be one screen. Review 21/09 split it: finding the farm and drawing round it were the same tap on the same map, so the screen was always in both modes and said it was in neither. This half only finds — two numbered, stacked options above the map, search or current location, and one button that confirms the farm is on screen. Nothing a farmer does here draws anything.
1. Ready to map my farm → A14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A14 — Draw your farm boundary
The second half, and the one that draws. By the time anyone arrives the map is already over their land, which is what makes every tap on it unambiguous. The instruction is ON the map at lead size rather than six words in the bar with the rest behind an ⓘ — "text is very small and easy to miss. Farmer may not know how to proceed." One button, "Get quote", and since review 21/09 that is exactly what it does: it makes the farm, sends the boundary for survey, and the quote comes back on the far side. The screening that used to be done by charging first is done by A11 now, which shows both plans at their estimated cost before anyone gets here. Opened with a farm id it edits that farm’s outline instead, which is the one route that skips A13 entirely.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A15 — Survey in progress
The screen that says the satellite has been asked for something. Review 21/09 renamed it — the farmer is told a survey is starting before it and that his survey is ready after it, so calling the middle of it an analysis made three names for two things — and took out the line telling him to keep the app open: the survey runs on MMC’s servers, so the app has nothing to do while it waits and a push notification is what brings him back. It carries an estimated time, which is MMC’s number and varies by country. Its button goes on to the service plans.
1. Go to service plans →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Survey results
The plots the survey found, or the plots the farmer drew, as one list to approve, over the farm’s own outline. Every row offers all three of Keep, Edit and Remove, one button underneath adds a plot that is missing, and the app bar carries the way back to the boundary. It is the second sitting now: the plan was chosen and paid for before the survey ran, so what Home opens when the answer comes back is this — what was found — with A17 one step beyond it, re-priced on the real plots.
On the "Signing up" path.
The screenshot shows 53%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Review 21/09 split it into a monthly and an annual page and the third pass of the same review put it back together — the period is a toggle on this screen, not a second screen code. Two levels to pick between and one main confirmation button at the bottom. It comes AFTER the survey again — “Sequence: A13, A15, A16, A17”, and the four steps on A11 say the same thing in longer form: a quote third, a plan chosen fourth. Reached before the answer is back it says the survey is still running rather than inventing a figure. The monthly/annual toggle sits ABOVE the two cards at review 21/09’s third pass — the period is what the two prices MEAN, so it is declared before them — and it defaults to annual, with the saving spelt out under it. It is a toggle on this one screen and no longer a second screen code: “don’t create a separate screen code to show the monthly plan page.” F5 is the same question for an account that already has one.
1. Start free trial → A18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"Once the survey is ready"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on one screen — the crops first, the tree groups after, each list in plot order (Plot 1, Plot 2 …) whether or not a crop is set. Every plot is numbered; none is named after its crop. The map at the top uses the same “Pick a metric” control and colour legend as every other map, and its expand button opens the full map with a way back.
1. Switch farm — Switches between farms, and adds a new one
2. Open map → C1
3. Pick a metric. Showing Plant health — Opens the list of metrics, each explained
4. Open Plot 1 → B2
5. Wheat → B3
6. Set new crop → B4
On the "From the farm to one plot, and what is growing on it"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in the order a farmer reads it (v1.7.2): the map with its metric picker and legend; the crop cycle, compact, edited on B3; the score card — all five metrics as numbers in their legend colours, and pressing one shows it on the map; advice for this plot, shown even when there is none; a trend of any of the five metrics, opening on the one the map shows; the irrigation trend; disease and pest risk; and the growth stage. The dock has two buttons: See advice, which opens the inbox for this plot only, and Irrigation schedule (B12).
1. More — Rename, edit the boundary, remove the plot
2. Which date? — Picks the imagery date, and compares two
3. Open in the map → C1
4. Pick a metric. Showing Plant health — Opens the list of metrics, each explained
5. Edit → B3
6. See advice → D1
7. Irrigation schedule → B12
8. Plant health On the map64%Good — Shows this metric on the map
On the "From the farm to one plot, and what is growing on it" path.
The screenshot shows 24%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New at v1.7.2, opened from the second button on a plot or tree group: the week’s water for this plot — the rate per hectare, the total, and whether it is more or less than usual; each watering on its day with its two-hour window and the weather that decided it; why this much (reference ET × crop coefficient); fertigation where the plot is on drip; the efficiency of the system; and the system itself — soil, method, flow rate — which used to sit in the crop cycle box on B2.
On the "A plot’s irrigation schedule" path.
The screenshot shows 35%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
The screenshot shows 82%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group
The same screen as a field (B2), without the crop cycle: map, score card, the trees that recently stopped signalling, advice, the trend of any metric, irrigation, disease and pest risk and the growth stage, with See advice and Irrigation schedule in the dock. “Health overview” is called Score card now, and it carries all five metrics, not three.
1. Search — Finds a tree by its number
2. Which date? — Picks the imagery date, and compares two
3. Open in the map → C1
4. Pick a metric. Showing Tree health — Opens the list of metrics, each explained
5. Tree health On the map27%Poor — Shows this metric on the map
6. See advice → D1
7. Irrigation schedule → B12
8. Soil moisture41%Very dry — Shows this metric on the map
On the "From the farm to a tree group, and down to one tree" path.
The screenshot shows 20%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because picking tree 2841 out of eight thousand is the hard part.
1. More — Replace, mark as removed, record a note
On the "From the farm to a tree group, and down to one tree"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Draw my own plots
Drawing each plot on satellite imagery, corner by corner, and naming it. One plot is one crop, which is why the boundary is the only thing this route asks for before the summary. Reached from Farm settings now (Add a plot), not from first-run sign-up — the fork that used to send new sign-ups here is A9B, which this registry no longer carries; see the note near the top of this file.
1. About: Draw one plot — Opens the guidance for this screen
On the "Adding a plot by hand,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5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Every plot is labelled with its number and its crop, always. The panel at the foot says “Pick a metric” over a button that names the one shown, with a five-colour legend under it in that metric’s own words: red is bad and green is good, and on soil moisture and water stress blue means too much water. Opened from a plot or farm screen, the map carries a back button and is fitted to that plot, with no plot sheet raised. Four tools: search, layers, compare and locate — zoom is a pinch, and finding a tree is on the tree group itself.
1. Search a place, farm, plot or tree — Finds a place, a farm, a plot or a tree
2. All farms — Switches which farm the map is showing
3. Layers → C2
4. Compare → C4
5. Pick a metric. Showing Plant health — Opens the list of metrics, each explained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tree points. The metric is chosen on the map itself, so the list of monitoring layers is gone, and irrigation efficiency moved to each plot’s irrigation schedule.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Plot sheet
A tap on a plot, answered without leaving the map: its name, crop and status, the metric the map is showing with its colour and word, and all five metrics in the score card’s order and colours — pressing one repaints the map. It drags up to full height and opens the plot. It is not raised when the map is opened from a plot screen.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Each item is three lines — how urgent and what kind, which ground and which crop, and what to do — with the detail one tap away on D2, D3 or D4. Opened from a plot’s See advice, it is narrowed to that plot, and the line under the filters says so with a way to clear it. The crop on every card is read from the plot it is about, so it always matches the plot screen.
On the "Reading a piece of advice and sending it on" path.
The screenshot shows 31%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with the common products that supply it. The Monday review settled the word: nutrition was ambiguous, fertilisation is what a farmer buys.
On the "The other two kinds of advice" path.
The screenshot shows 42%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The active ingredient, and the date after which the crop is safe to pick. The reminder to read the label stays on the screen.
On the "The other two kinds of advice" path.
The screenshot shows 38%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Check a photo
New at the 13/09 catalogue review, and the one feature on that list that makes the phone the right device rather than the web platform: a farmer standing over damage he does not recognise photographs it and gets a shortlist. The capture state is the frame and the three things that decide whether the answer is any good — distance, light, and a healthy part of the leaf in shot.
On the "Checking damage from a photograph"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Photo result
What came back: the likeliest cause with a match percentage beside it, how to confirm it on the plant, what to do, the pre-harvest interval, and the second candidate it could also be. A diagnosis from one photograph is a shortlist rather than a verdict, and the screen says so twice.
On the "Checking damage from a photograph"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It comes back as a document in whichever language was asked for.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It came off the farm screen in the v1.5.4 review — it is a thing to look up rather than a thing to be shown every time the app opens.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own Feature_Comparison document, transcribed: forty-five features in fourteen groups across the two catalogues it describes — Farm App Services for a crop or mixed holding, Tree Advisory for a tree one. They are two products and cannot be merged, because they disagree: canopy water content is in Basic on one and Premium-only on the other. No prices — A17 and F5 are the screens with a figure on them, and both link here.
1. Back to my plan → F5
On the "What the plan covers, and what it costs"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and three varieties, offered when a farmer declares what he planted — and nothing anywhere said how long the season runs, what it drinks, or what goes wrong with it. Grouped by family, searchable by variety, and marked where the farmer grows it himself.
On the "Looking a crop or a disease up" path.
The screenshot shows 17%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its varieties, and the pests and diseases that name it — each of which opens its own entry. The cross-link is the point of shipping the two directories together.
On the "Looking a crop or a disease up" path.
The screenshot shows 52%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jpg"/><Relationship Id="rId16" Type="http://schemas.openxmlformats.org/officeDocument/2006/relationships/slideLayout" Target="../slideLayouts/slideLayout1.xml"/><Relationship Id="rId1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slideLayout" Target="../slideLayouts/slideLayout1.xml"/><Relationship Id="rId1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slideLayout" Target="../slideLayouts/slideLayout1.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jpg"/><Relationship Id="rId16" Type="http://schemas.openxmlformats.org/officeDocument/2006/relationships/slideLayout" Target="../slideLayouts/slideLayout1.xml"/><Relationship Id="rId1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jp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slideLayout" Target="../slideLayouts/slideLayout1.xml"/><Relationship Id="rId1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jp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jp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jp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jp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jp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jp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jp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jp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jp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jp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jpg"/><Relationship Id="rId6" Type="http://schemas.openxmlformats.org/officeDocument/2006/relationships/slideLayout" Target="../slideLayouts/slideLayout1.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jpg"/><Relationship Id="rId6" Type="http://schemas.openxmlformats.org/officeDocument/2006/relationships/slideLayout" Target="../slideLayouts/slideLayout1.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slideLayout" Target="../slideLayouts/slideLayout1.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image" Target="../media/image-60-7.jpg"/><Relationship Id="rId8" Type="http://schemas.openxmlformats.org/officeDocument/2006/relationships/slideLayout" Target="../slideLayouts/slideLayout1.xml"/><Relationship Id="rId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jpg"/><Relationship Id="rId8" Type="http://schemas.openxmlformats.org/officeDocument/2006/relationships/slideLayout" Target="../slideLayouts/slideLayout1.xml"/><Relationship Id="rId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jp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jpg"/><Relationship Id="rId9" Type="http://schemas.openxmlformats.org/officeDocument/2006/relationships/slideLayout" Target="../slideLayouts/slideLayout1.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image" Target="../media/image-66-7.png"/><Relationship Id="rId8" Type="http://schemas.openxmlformats.org/officeDocument/2006/relationships/image" Target="../media/image-66-8.jpg"/><Relationship Id="rId9" Type="http://schemas.openxmlformats.org/officeDocument/2006/relationships/slideLayout" Target="../slideLayouts/slideLayout1.xml"/><Relationship Id="rId1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image" Target="../media/image-67-7.png"/><Relationship Id="rId8" Type="http://schemas.openxmlformats.org/officeDocument/2006/relationships/image" Target="../media/image-67-8.jpg"/><Relationship Id="rId9" Type="http://schemas.openxmlformats.org/officeDocument/2006/relationships/slideLayout" Target="../slideLayouts/slideLayout1.xml"/><Relationship Id="rId1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60</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1.7.2</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60 screens across 6 sections of the app, at version 1.7.2.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60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Locate your farm</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A14</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farm boundary</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A15</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in progress</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results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60" name="Text 58"/>
          <p:cNvSpPr/>
          <p:nvPr/>
        </p:nvSpPr>
        <p:spPr>
          <a:xfrm>
            <a:off x="1088136"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61" name="Text 59"/>
          <p:cNvSpPr/>
          <p:nvPr/>
        </p:nvSpPr>
        <p:spPr>
          <a:xfrm>
            <a:off x="3090672"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22</a:t>
            </a:r>
            <a:endParaRPr lang="en-US" sz="850" dirty="0"/>
          </a:p>
        </p:txBody>
      </p:sp>
      <p:sp>
        <p:nvSpPr>
          <p:cNvPr id="62" name="Text 60"/>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3" name="Text 61"/>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4" name="Text 62"/>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5" name="Text 63"/>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24</a:t>
            </a:r>
            <a:endParaRPr lang="en-US" sz="850" dirty="0"/>
          </a:p>
        </p:txBody>
      </p:sp>
      <p:sp>
        <p:nvSpPr>
          <p:cNvPr id="66" name="Text 64"/>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67" name="Text 65"/>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68" name="Text 66"/>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25</a:t>
            </a:r>
            <a:endParaRPr lang="en-US" sz="850" dirty="0"/>
          </a:p>
        </p:txBody>
      </p:sp>
      <p:sp>
        <p:nvSpPr>
          <p:cNvPr id="69" name="Text 67"/>
          <p:cNvSpPr/>
          <p:nvPr/>
        </p:nvSpPr>
        <p:spPr>
          <a:xfrm>
            <a:off x="3867912" y="194310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70" name="Text 68"/>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71" name="Text 69"/>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72" name="Text 70"/>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27</a:t>
            </a:r>
            <a:endParaRPr lang="en-US" sz="850" dirty="0"/>
          </a:p>
        </p:txBody>
      </p:sp>
      <p:sp>
        <p:nvSpPr>
          <p:cNvPr id="73" name="Text 71"/>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4" name="Text 72"/>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5" name="Text 73"/>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77" name="Text 75"/>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78" name="Text 76"/>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80" name="Text 78"/>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81" name="Text 79"/>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3" name="Text 81"/>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4" name="Text 82"/>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6" name="Text 84"/>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group</a:t>
            </a:r>
            <a:endParaRPr lang="en-US" sz="850" dirty="0"/>
          </a:p>
        </p:txBody>
      </p:sp>
      <p:sp>
        <p:nvSpPr>
          <p:cNvPr id="87" name="Text 85"/>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89" name="Text 87"/>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90" name="Text 88"/>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92" name="Text 90"/>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3" name="Text 91"/>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5" name="Text 93"/>
          <p:cNvSpPr/>
          <p:nvPr/>
        </p:nvSpPr>
        <p:spPr>
          <a:xfrm>
            <a:off x="4453128"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6" name="Text 94"/>
          <p:cNvSpPr/>
          <p:nvPr/>
        </p:nvSpPr>
        <p:spPr>
          <a:xfrm>
            <a:off x="6455664"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98" name="Text 96"/>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my own plots</a:t>
            </a:r>
            <a:endParaRPr lang="en-US" sz="850" dirty="0"/>
          </a:p>
        </p:txBody>
      </p:sp>
      <p:sp>
        <p:nvSpPr>
          <p:cNvPr id="99" name="Text 97"/>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101" name="Text 99"/>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102" name="Text 100"/>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37</a:t>
            </a:r>
            <a:endParaRPr lang="en-US" sz="850" dirty="0"/>
          </a:p>
        </p:txBody>
      </p:sp>
      <p:sp>
        <p:nvSpPr>
          <p:cNvPr id="103" name="Text 101"/>
          <p:cNvSpPr/>
          <p:nvPr/>
        </p:nvSpPr>
        <p:spPr>
          <a:xfrm>
            <a:off x="3867912" y="44119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4" name="Text 102"/>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5" name="Text 103"/>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6" name="Text 104"/>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39</a:t>
            </a:r>
            <a:endParaRPr lang="en-US" sz="850" dirty="0"/>
          </a:p>
        </p:txBody>
      </p:sp>
      <p:sp>
        <p:nvSpPr>
          <p:cNvPr id="107" name="Text 105"/>
          <p:cNvSpPr/>
          <p:nvPr/>
        </p:nvSpPr>
        <p:spPr>
          <a:xfrm>
            <a:off x="3867912"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08" name="Text 106"/>
          <p:cNvSpPr/>
          <p:nvPr/>
        </p:nvSpPr>
        <p:spPr>
          <a:xfrm>
            <a:off x="4453128"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09" name="Text 107"/>
          <p:cNvSpPr/>
          <p:nvPr/>
        </p:nvSpPr>
        <p:spPr>
          <a:xfrm>
            <a:off x="6455664"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C3</a:t>
            </a:r>
            <a:endParaRPr lang="en-US" sz="850" dirty="0"/>
          </a:p>
        </p:txBody>
      </p:sp>
      <p:sp>
        <p:nvSpPr>
          <p:cNvPr id="111" name="Text 109"/>
          <p:cNvSpPr/>
          <p:nvPr/>
        </p:nvSpPr>
        <p:spPr>
          <a:xfrm>
            <a:off x="4453128"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sheet</a:t>
            </a:r>
            <a:endParaRPr lang="en-US" sz="850" dirty="0"/>
          </a:p>
        </p:txBody>
      </p:sp>
      <p:sp>
        <p:nvSpPr>
          <p:cNvPr id="112" name="Text 110"/>
          <p:cNvSpPr/>
          <p:nvPr/>
        </p:nvSpPr>
        <p:spPr>
          <a:xfrm>
            <a:off x="6455664"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3867912"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14" name="Text 112"/>
          <p:cNvSpPr/>
          <p:nvPr/>
        </p:nvSpPr>
        <p:spPr>
          <a:xfrm>
            <a:off x="4453128"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15" name="Text 113"/>
          <p:cNvSpPr/>
          <p:nvPr/>
        </p:nvSpPr>
        <p:spPr>
          <a:xfrm>
            <a:off x="6455664"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42</a:t>
            </a:r>
            <a:endParaRPr lang="en-US" sz="850" dirty="0"/>
          </a:p>
        </p:txBody>
      </p:sp>
      <p:sp>
        <p:nvSpPr>
          <p:cNvPr id="116" name="Text 114"/>
          <p:cNvSpPr/>
          <p:nvPr/>
        </p:nvSpPr>
        <p:spPr>
          <a:xfrm>
            <a:off x="3867912"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17" name="Text 115"/>
          <p:cNvSpPr/>
          <p:nvPr/>
        </p:nvSpPr>
        <p:spPr>
          <a:xfrm>
            <a:off x="4453128"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18" name="Text 116"/>
          <p:cNvSpPr/>
          <p:nvPr/>
        </p:nvSpPr>
        <p:spPr>
          <a:xfrm>
            <a:off x="6455664"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9" name="Text 117"/>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20" name="Text 118"/>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21" name="Text 119"/>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22" name="Text 120"/>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45</a:t>
            </a:r>
            <a:endParaRPr lang="en-US" sz="850" dirty="0"/>
          </a:p>
        </p:txBody>
      </p:sp>
      <p:sp>
        <p:nvSpPr>
          <p:cNvPr id="123" name="Text 121"/>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24" name="Text 122"/>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25" name="Text 123"/>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27" name="Text 125"/>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28" name="Text 126"/>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30" name="Text 128"/>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31" name="Text 129"/>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33" name="Text 131"/>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Check a photo</a:t>
            </a:r>
            <a:endParaRPr lang="en-US" sz="850" dirty="0"/>
          </a:p>
        </p:txBody>
      </p:sp>
      <p:sp>
        <p:nvSpPr>
          <p:cNvPr id="134" name="Text 132"/>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49</a:t>
            </a:r>
            <a:endParaRPr lang="en-US" sz="850" dirty="0"/>
          </a:p>
        </p:txBody>
      </p:sp>
      <p:sp>
        <p:nvSpPr>
          <p:cNvPr id="135" name="Text 133"/>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6" name="Text 134"/>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Photo result</a:t>
            </a:r>
            <a:endParaRPr lang="en-US" sz="850" dirty="0"/>
          </a:p>
        </p:txBody>
      </p:sp>
      <p:sp>
        <p:nvSpPr>
          <p:cNvPr id="137" name="Text 135"/>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8" name="Text 136"/>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39" name="Text 137"/>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40" name="Text 138"/>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41" name="Text 139"/>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52</a:t>
            </a:r>
            <a:endParaRPr lang="en-US" sz="850" dirty="0"/>
          </a:p>
        </p:txBody>
      </p:sp>
      <p:sp>
        <p:nvSpPr>
          <p:cNvPr id="142" name="Text 140"/>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43" name="Text 141"/>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44" name="Text 142"/>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6" name="Text 144"/>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47" name="Text 145"/>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49" name="Text 147"/>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50" name="Text 148"/>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52" name="Text 150"/>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53" name="Text 151"/>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55" name="Text 153"/>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6" name="Text 154"/>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58" name="Text 156"/>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59" name="Text 157"/>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61" name="Text 159"/>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62" name="Text 160"/>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64" name="Text 162"/>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65" name="Text 163"/>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67" name="Text 165"/>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68" name="Text 166"/>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70" name="Text 168"/>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71" name="Text 169"/>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73" name="Text 171"/>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74" name="Text 172"/>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6" name="Text 174"/>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77" name="Text 175"/>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79" name="Text 177"/>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80" name="Text 178"/>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82" name="Text 180"/>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83" name="Text 181"/>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85" name="Text 183"/>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6" name="Text 184"/>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67</a:t>
            </a:r>
            <a:endParaRPr lang="en-US" sz="850" dirty="0"/>
          </a:p>
        </p:txBody>
      </p:sp>
      <p:sp>
        <p:nvSpPr>
          <p:cNvPr id="187" name="Text 185"/>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88" name="Text 186"/>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89" name="Text 187"/>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68</a:t>
            </a:r>
            <a:endParaRPr lang="en-US" sz="850" dirty="0"/>
          </a:p>
        </p:txBody>
      </p:sp>
      <p:sp>
        <p:nvSpPr>
          <p:cNvPr id="190" name="Text 18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91" name="Text 18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19 screens  ·  A1 · A2 · A3 · A4 · A5 · A6 · A7 · A8 · A9 · A10 · A11 · A12 · A13 · A14 · A15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Shape 41"/>
          <p:cNvSpPr/>
          <p:nvPr/>
        </p:nvSpPr>
        <p:spPr>
          <a:xfrm>
            <a:off x="7123176" y="6099048"/>
            <a:ext cx="3063240" cy="667512"/>
          </a:xfrm>
          <a:prstGeom prst="rect">
            <a:avLst/>
          </a:prstGeom>
          <a:solidFill>
            <a:srgbClr val="F2F7F4"/>
          </a:solidFill>
          <a:ln w="12700">
            <a:solidFill>
              <a:srgbClr val="A9C6B6"/>
            </a:solidFill>
            <a:prstDash val="solid"/>
          </a:ln>
        </p:spPr>
      </p:sp>
      <p:sp>
        <p:nvSpPr>
          <p:cNvPr id="58" name="Text 42"/>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9" name="Text 43"/>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60" name="Image 14" descr="/home/user/white-label-mockup/.screendeck/A8-tail.jpg">    </p:cNvPr>
          <p:cNvPicPr>
            <a:picLocks noChangeAspect="1"/>
          </p:cNvPicPr>
          <p:nvPr/>
        </p:nvPicPr>
        <p:blipFill>
          <a:blip r:embed="rId15"/>
          <a:stretch>
            <a:fillRect/>
          </a:stretch>
        </p:blipFill>
        <p:spPr>
          <a:xfrm>
            <a:off x="3429000" y="3096424"/>
            <a:ext cx="1521864" cy="3174797"/>
          </a:xfrm>
          <a:prstGeom prst="rect">
            <a:avLst/>
          </a:prstGeom>
        </p:spPr>
      </p:pic>
      <p:sp>
        <p:nvSpPr>
          <p:cNvPr id="61"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2"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Locate your farm</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15)</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Locate your farm</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Ready to map my farm</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A14 Draw your farm boundary</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farm boundary</a:t>
            </a:r>
            <a:endParaRPr lang="en-US" sz="2600" dirty="0"/>
          </a:p>
        </p:txBody>
      </p:sp>
      <p:pic>
        <p:nvPicPr>
          <p:cNvPr id="4" name="Image 0" descr="/home/user/white-label-mockup/.screendeck/A1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in progress</a:t>
            </a:r>
            <a:endParaRPr lang="en-US" sz="2600" dirty="0"/>
          </a:p>
        </p:txBody>
      </p:sp>
      <p:pic>
        <p:nvPicPr>
          <p:cNvPr id="4" name="Image 0" descr="/home/user/white-label-mockup/.screendeck/A1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Go to service plans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A17 Service plans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20)</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results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6-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0" name="Text 4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7-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0" name="Text 4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61" name="Text 4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62" name="Text 4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21)</a:t>
            </a:r>
            <a:endParaRPr lang="en-US" sz="800" dirty="0"/>
          </a:p>
        </p:txBody>
      </p:sp>
      <p:sp>
        <p:nvSpPr>
          <p:cNvPr id="63" name="Text 4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4" name="Text 4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16-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7-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19-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389600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17992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45424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3078969" y="572856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29" name="Text 21"/>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30" name="Text 22"/>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1" name="Text 23"/>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32" name="Text 24"/>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3" name="Text 25"/>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map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34" name="Text 26"/>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5" name="Text 27"/>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6" name="Text 28"/>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7" name="Text 29"/>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28)</a:t>
            </a:r>
            <a:endParaRPr lang="en-US" sz="800" dirty="0"/>
          </a:p>
        </p:txBody>
      </p:sp>
      <p:sp>
        <p:nvSpPr>
          <p:cNvPr id="38" name="Text 30"/>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9" name="Text 31"/>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Wheat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40" name="Text 32"/>
          <p:cNvSpPr/>
          <p:nvPr/>
        </p:nvSpPr>
        <p:spPr>
          <a:xfrm>
            <a:off x="5261760" y="44817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41" name="Text 33"/>
          <p:cNvSpPr/>
          <p:nvPr/>
        </p:nvSpPr>
        <p:spPr>
          <a:xfrm>
            <a:off x="5536080" y="44680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Set new crop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42" name="Text 3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43" name="Text 3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4555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27609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40721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491090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29" name="Text 21"/>
          <p:cNvSpPr/>
          <p:nvPr/>
        </p:nvSpPr>
        <p:spPr>
          <a:xfrm>
            <a:off x="3078969" y="5996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30" name="Text 22"/>
          <p:cNvSpPr/>
          <p:nvPr/>
        </p:nvSpPr>
        <p:spPr>
          <a:xfrm>
            <a:off x="3078969" y="630116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31" name="Text 2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32" name="Text 2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3" name="Text 2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4" name="Text 26"/>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5" name="Text 27"/>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36" name="Text 28"/>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7" name="Text 29"/>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in the map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38" name="Text 30"/>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9" name="Text 31"/>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40" name="Text 32"/>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41" name="Text 33"/>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42" name="Text 34"/>
          <p:cNvSpPr/>
          <p:nvPr/>
        </p:nvSpPr>
        <p:spPr>
          <a:xfrm>
            <a:off x="5261760" y="44817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43" name="Text 35"/>
          <p:cNvSpPr/>
          <p:nvPr/>
        </p:nvSpPr>
        <p:spPr>
          <a:xfrm>
            <a:off x="5536080" y="44680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advice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D1 Advice inbox</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45)</a:t>
            </a:r>
            <a:endParaRPr lang="en-US" sz="800" dirty="0"/>
          </a:p>
        </p:txBody>
      </p:sp>
      <p:sp>
        <p:nvSpPr>
          <p:cNvPr id="44" name="Text 36"/>
          <p:cNvSpPr/>
          <p:nvPr/>
        </p:nvSpPr>
        <p:spPr>
          <a:xfrm>
            <a:off x="5261760" y="47560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a:t>
            </a:r>
            <a:endParaRPr lang="en-US" sz="800" dirty="0"/>
          </a:p>
        </p:txBody>
      </p:sp>
      <p:sp>
        <p:nvSpPr>
          <p:cNvPr id="45" name="Text 37"/>
          <p:cNvSpPr/>
          <p:nvPr/>
        </p:nvSpPr>
        <p:spPr>
          <a:xfrm>
            <a:off x="5536080" y="47423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Irrigation schedule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46" name="Text 38"/>
          <p:cNvSpPr/>
          <p:nvPr/>
        </p:nvSpPr>
        <p:spPr>
          <a:xfrm>
            <a:off x="5261760" y="50303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8</a:t>
            </a:r>
            <a:endParaRPr lang="en-US" sz="800" dirty="0"/>
          </a:p>
        </p:txBody>
      </p:sp>
      <p:sp>
        <p:nvSpPr>
          <p:cNvPr id="47" name="Text 39"/>
          <p:cNvSpPr/>
          <p:nvPr/>
        </p:nvSpPr>
        <p:spPr>
          <a:xfrm>
            <a:off x="5536080" y="50166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48"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49"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15185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4-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group</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24555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27609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3078969" y="39547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3" name="Text 16"/>
          <p:cNvSpPr/>
          <p:nvPr/>
        </p:nvSpPr>
        <p:spPr>
          <a:xfrm>
            <a:off x="3078969" y="533884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4" name="Text 17"/>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25" name="Text 18"/>
          <p:cNvSpPr/>
          <p:nvPr/>
        </p:nvSpPr>
        <p:spPr>
          <a:xfrm>
            <a:off x="3078969" y="5996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26" name="Text 19"/>
          <p:cNvSpPr/>
          <p:nvPr/>
        </p:nvSpPr>
        <p:spPr>
          <a:xfrm>
            <a:off x="3078969" y="627120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27" name="Text 20"/>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8" name="Text 21"/>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9" name="Text 22"/>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30" name="Text 23"/>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1" name="Text 24"/>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32" name="Text 25"/>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3" name="Text 26"/>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in the map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34" name="Text 27"/>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5" name="Text 28"/>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Tree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6" name="Text 29"/>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7" name="Text 30"/>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Tree health On the map27%Poor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8" name="Text 31"/>
          <p:cNvSpPr/>
          <p:nvPr/>
        </p:nvSpPr>
        <p:spPr>
          <a:xfrm>
            <a:off x="5261760" y="44817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39" name="Text 32"/>
          <p:cNvSpPr/>
          <p:nvPr/>
        </p:nvSpPr>
        <p:spPr>
          <a:xfrm>
            <a:off x="5536080" y="44680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advice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D1 Advice inbox</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45)</a:t>
            </a:r>
            <a:endParaRPr lang="en-US" sz="800" dirty="0"/>
          </a:p>
        </p:txBody>
      </p:sp>
      <p:sp>
        <p:nvSpPr>
          <p:cNvPr id="40" name="Text 33"/>
          <p:cNvSpPr/>
          <p:nvPr/>
        </p:nvSpPr>
        <p:spPr>
          <a:xfrm>
            <a:off x="5261760" y="47560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a:t>
            </a:r>
            <a:endParaRPr lang="en-US" sz="800" dirty="0"/>
          </a:p>
        </p:txBody>
      </p:sp>
      <p:sp>
        <p:nvSpPr>
          <p:cNvPr id="41" name="Text 34"/>
          <p:cNvSpPr/>
          <p:nvPr/>
        </p:nvSpPr>
        <p:spPr>
          <a:xfrm>
            <a:off x="5536080" y="47423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Irrigation schedule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42" name="Text 35"/>
          <p:cNvSpPr/>
          <p:nvPr/>
        </p:nvSpPr>
        <p:spPr>
          <a:xfrm>
            <a:off x="5261760" y="50303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8</a:t>
            </a:r>
            <a:endParaRPr lang="en-US" sz="800" dirty="0"/>
          </a:p>
        </p:txBody>
      </p:sp>
      <p:sp>
        <p:nvSpPr>
          <p:cNvPr id="43" name="Text 36"/>
          <p:cNvSpPr/>
          <p:nvPr/>
        </p:nvSpPr>
        <p:spPr>
          <a:xfrm>
            <a:off x="5536080" y="50166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moisture41%Very dry</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44"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45"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my own plots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my own plots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6" name="Text 10"/>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Draw one plot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0" name="Text 1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1" name="Text 1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096424"/>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5 screens  ·  C1 · C2 · C3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Text 13"/>
          <p:cNvSpPr/>
          <p:nvPr/>
        </p:nvSpPr>
        <p:spPr>
          <a:xfrm>
            <a:off x="3078969" y="18902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1" name="Text 14"/>
          <p:cNvSpPr/>
          <p:nvPr/>
        </p:nvSpPr>
        <p:spPr>
          <a:xfrm>
            <a:off x="3078969" y="216456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2" name="Text 15"/>
          <p:cNvSpPr/>
          <p:nvPr/>
        </p:nvSpPr>
        <p:spPr>
          <a:xfrm>
            <a:off x="3078969" y="243888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3" name="Text 16"/>
          <p:cNvSpPr/>
          <p:nvPr/>
        </p:nvSpPr>
        <p:spPr>
          <a:xfrm>
            <a:off x="3078969" y="27132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4" name="Text 17"/>
          <p:cNvSpPr/>
          <p:nvPr/>
        </p:nvSpPr>
        <p:spPr>
          <a:xfrm>
            <a:off x="3078969" y="509074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5"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8"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30" name="Text 23"/>
          <p:cNvSpPr/>
          <p:nvPr/>
        </p:nvSpPr>
        <p:spPr>
          <a:xfrm>
            <a:off x="342900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1" name="Text 24"/>
          <p:cNvSpPr/>
          <p:nvPr/>
        </p:nvSpPr>
        <p:spPr>
          <a:xfrm>
            <a:off x="3703320" y="364506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2" name="Text 25"/>
          <p:cNvSpPr/>
          <p:nvPr/>
        </p:nvSpPr>
        <p:spPr>
          <a:xfrm>
            <a:off x="342900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3" name="Text 26"/>
          <p:cNvSpPr/>
          <p:nvPr/>
        </p:nvSpPr>
        <p:spPr>
          <a:xfrm>
            <a:off x="3703320" y="391938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42)</a:t>
            </a:r>
            <a:endParaRPr lang="en-US" sz="800" dirty="0"/>
          </a:p>
        </p:txBody>
      </p:sp>
      <p:sp>
        <p:nvSpPr>
          <p:cNvPr id="34" name="Text 27"/>
          <p:cNvSpPr/>
          <p:nvPr/>
        </p:nvSpPr>
        <p:spPr>
          <a:xfrm>
            <a:off x="342900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5" name="Text 28"/>
          <p:cNvSpPr/>
          <p:nvPr/>
        </p:nvSpPr>
        <p:spPr>
          <a:xfrm>
            <a:off x="3703320" y="419370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6" name="Text 2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7" name="Text 3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sheet</a:t>
            </a:r>
            <a:endParaRPr lang="en-US" sz="2600" dirty="0"/>
          </a:p>
        </p:txBody>
      </p:sp>
      <p:pic>
        <p:nvPicPr>
          <p:cNvPr id="4" name="Image 0" descr="/home/user/white-label-mockup/.screendeck/C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Shape 13"/>
          <p:cNvSpPr/>
          <p:nvPr/>
        </p:nvSpPr>
        <p:spPr>
          <a:xfrm>
            <a:off x="7123176" y="5760720"/>
            <a:ext cx="3063240" cy="1005840"/>
          </a:xfrm>
          <a:prstGeom prst="rect">
            <a:avLst/>
          </a:prstGeom>
          <a:solidFill>
            <a:srgbClr val="F2F7F4"/>
          </a:solidFill>
          <a:ln w="12700">
            <a:solidFill>
              <a:srgbClr val="A9C6B6"/>
            </a:solidFill>
            <a:prstDash val="solid"/>
          </a:ln>
        </p:spPr>
      </p:sp>
      <p:sp>
        <p:nvSpPr>
          <p:cNvPr id="21" name="Text 14"/>
          <p:cNvSpPr/>
          <p:nvPr/>
        </p:nvSpPr>
        <p:spPr>
          <a:xfrm>
            <a:off x="7269480" y="5888736"/>
            <a:ext cx="2770632" cy="76809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plot sheet is a pop-up panel that appears when the user taps a plot on the map. It shows the general metrics for the plot selected, and opens the full plot screen if he wants more.</a:t>
            </a:r>
            <a:endParaRPr lang="en-US" sz="850" dirty="0"/>
          </a:p>
        </p:txBody>
      </p:sp>
      <p:sp>
        <p:nvSpPr>
          <p:cNvPr id="22"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3"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Boundary editor</a:t>
            </a:r>
            <a:endParaRPr lang="en-US" sz="600" dirty="0"/>
          </a:p>
        </p:txBody>
      </p:sp>
      <p:sp>
        <p:nvSpPr>
          <p:cNvPr id="20" name="Shape 13"/>
          <p:cNvSpPr/>
          <p:nvPr/>
        </p:nvSpPr>
        <p:spPr>
          <a:xfrm>
            <a:off x="7123176" y="5010912"/>
            <a:ext cx="3063240" cy="1755648"/>
          </a:xfrm>
          <a:prstGeom prst="rect">
            <a:avLst/>
          </a:prstGeom>
          <a:solidFill>
            <a:srgbClr val="F2F7F4"/>
          </a:solidFill>
          <a:ln w="12700">
            <a:solidFill>
              <a:srgbClr val="A9C6B6"/>
            </a:solidFill>
            <a:prstDash val="solid"/>
          </a:ln>
        </p:spPr>
      </p:sp>
      <p:sp>
        <p:nvSpPr>
          <p:cNvPr id="21" name="Text 14"/>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22"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3"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13129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Check a photo</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Check a photo</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Photo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Photo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Check a photo</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Photo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56)</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59)</a:t>
            </a:r>
            <a:endParaRPr lang="en-US" sz="800" dirty="0"/>
          </a:p>
        </p:txBody>
      </p:sp>
      <p:sp>
        <p:nvSpPr>
          <p:cNvPr id="29"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60)</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v1.7.2</dc:title>
  <dc:subject>PptxGenJS Presentation</dc:subject>
  <dc:creator>Wafra Greentech</dc:creator>
  <cp:lastModifiedBy>Wafra Greentech</cp:lastModifiedBy>
  <cp:revision>1</cp:revision>
  <dcterms:created xsi:type="dcterms:W3CDTF">2026-10-18T22:16:51Z</dcterms:created>
  <dcterms:modified xsi:type="dcterms:W3CDTF">2026-10-18T22:16:51Z</dcterms:modified>
</cp:coreProperties>
</file>