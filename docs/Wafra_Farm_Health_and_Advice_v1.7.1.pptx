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2.png"/><Relationship Id="rId5" Type="http://schemas.openxmlformats.org/officeDocument/2006/relationships/image" Target="../media/image-11-5.png"/><Relationship Id="rId6" Type="http://schemas.openxmlformats.org/officeDocument/2006/relationships/image" Target="../media/image-11-2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635240" y="0"/>
            <a:ext cx="4556455" cy="6858000"/>
          </a:xfrm>
          <a:prstGeom prst="rect">
            <a:avLst/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pic>
        <p:nvPicPr>
          <p:cNvPr id="3" name="Image 0" descr="/home/user/white-label-mockup/.advicedeck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2745" y="548640"/>
            <a:ext cx="2761446" cy="5760720"/>
          </a:xfrm>
          <a:prstGeom prst="rect">
            <a:avLst/>
          </a:prstGeom>
        </p:spPr>
      </p:pic>
      <p:pic>
        <p:nvPicPr>
          <p:cNvPr id="4" name="Image 1" descr="/home/user/white-label-mockup/.advicedeck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94360"/>
            <a:ext cx="1632753" cy="566928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1783080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5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2093976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disease risk and advice</a:t>
            </a:r>
            <a:endParaRPr lang="en-US" sz="270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267919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tour of the Wafra Farm app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04495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partners who want to send advice, and their own products, to their farmers.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794760"/>
            <a:ext cx="6720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4105656"/>
            <a:ext cx="6720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14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sağlamlığı, xəstəlik riski və məsləhətlər</a:t>
            </a:r>
            <a:endParaRPr lang="en-US" sz="27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469087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Wafra Farm tətbiqinə qısa baxış</a:t>
            </a:r>
            <a:endParaRPr lang="en-US" sz="1700" dirty="0"/>
          </a:p>
        </p:txBody>
      </p:sp>
      <p:sp>
        <p:nvSpPr>
          <p:cNvPr id="12" name="Text 8"/>
          <p:cNvSpPr txBox="1"/>
          <p:nvPr/>
        </p:nvSpPr>
        <p:spPr>
          <a:xfrm>
            <a:off x="685800" y="5056632"/>
            <a:ext cx="6720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Fermerlərinə məsləhət və öz məhsullarını göndərmək istəyən tərəfdaşlar üçün.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5800" y="6291072"/>
            <a:ext cx="672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screens are from the Azerbaijani version of the app.  ·  Ekranlar tətbiqin Azərbaycan dilindəki versiyasındandır.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4791988"/>
            <a:ext cx="2103959" cy="431692"/>
          </a:xfrm>
          <a:prstGeom prst="roundRect">
            <a:avLst>
              <a:gd name="adj" fmla="val 1270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5209839"/>
            <a:ext cx="1367638" cy="209682"/>
          </a:xfrm>
          <a:prstGeom prst="roundRect">
            <a:avLst>
              <a:gd name="adj" fmla="val 26165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974840" y="5450016"/>
            <a:ext cx="1256038" cy="229688"/>
          </a:xfrm>
          <a:prstGeom prst="roundRect">
            <a:avLst>
              <a:gd name="adj" fmla="val 2388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48239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48239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51912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51912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755384" y="54414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755384" y="54414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health of every field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 shows all fields from the satellite. The colour tells you how healthy the plants are.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what to see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Plant health, water, and more.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= health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Brown is weak. Green is strong.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back in time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date to see how the field has changed.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sahənin sağlamlığını görün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Xəritə bütün sahələri peykdən göstərir. Rəng bitkilərin nə qədər sağlam olduğunu deyir.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Nəyə baxacağınızı seçin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sağlamlığı, su və başqaları.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Rəng = sağlamlıq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Qəhvəyi zəifdir. Yaşıl güclüdür.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Keçmişə baxın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Tarixi dəyişin və sahənin necə dəyişdiyini görün.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healt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67244"/>
            <a:ext cx="2463847" cy="1279288"/>
          </a:xfrm>
          <a:prstGeom prst="roundRect">
            <a:avLst>
              <a:gd name="adj" fmla="val 428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6875857" y="2866892"/>
            <a:ext cx="334259" cy="258129"/>
          </a:xfrm>
          <a:prstGeom prst="roundRect">
            <a:avLst>
              <a:gd name="adj" fmla="val 21254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981580" y="3684101"/>
            <a:ext cx="2228535" cy="1288913"/>
          </a:xfrm>
          <a:prstGeom prst="roundRect">
            <a:avLst>
              <a:gd name="adj" fmla="val 425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499248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499248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656401" y="287251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656401" y="287251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62124" y="3716105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62124" y="3716105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of one field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field. You see what the satellite found, in plain words, and a health score from 0 to 100.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satellite sees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wrong, and where. Here: whitefly damage in the western rows. Act in 2–3 days.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score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out of 100. The word and the colour say how serious it is.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by week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green line is this field. The dotted line is the target.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sahənin sağlamlığı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Sahəni açın. Peykin nə tapdığını sadə sözlərlə və 0-dan 100-ə qədər sağlamlıq balını görürsünüz.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nə görür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nədir və haradadır. Burada: qərb cərgələrində ağ milçək zərəri. 2–3 gün ərzində tədbir görün.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Sağlamlıq balı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100-dən 44. Söz və rəng vəziyyətin nə qədər ciddi olduğunu deyir.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Həftə-həftə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Yaşıl xətt bu sahədir. Nöqtəli xətt hədəfdir.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ri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71029"/>
            <a:ext cx="2463847" cy="1716604"/>
          </a:xfrm>
          <a:prstGeom prst="roundRect">
            <a:avLst>
              <a:gd name="adj" fmla="val 319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70845" y="3901785"/>
            <a:ext cx="2450005" cy="723668"/>
          </a:xfrm>
          <a:prstGeom prst="roundRect">
            <a:avLst>
              <a:gd name="adj" fmla="val 7581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808702" y="3326700"/>
            <a:ext cx="401413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0303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0303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51389" y="393378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51389" y="393378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7182683" y="335870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82683" y="335870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risk, before it starts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looks at the weather ahead and at the crop. It shows which diseases and pests may come, and when.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stage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Now: flowering, stage 3 of 6. The risk depends on the stage.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Disease or pest, and its risk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blight: 62% likely, highest in 9 to 11 days. Tap to see what to do.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forecast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weather ahead and the crop. Nothing is seen on the field yet.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Xəstəlik riski, başlamazdan əvvəl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Tətbiq qarşıdakı havaya və bitkiyə baxır. Hansı xəstəlik və zərərvericilərin gələ biləcəyini və nə vaxt gələcəyini göstərir.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Bitkinin inkişaf mərhələsi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İndi: çiçəkləmə, 6 mərhələdən 3-cü. Risk mərhələdən asılıdır.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Xəstəlik və ya zərərverici və onun riski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Fitoftoroz: 62% ehtimal, ən yüksək risk 9–11 gün sonra. Nə etməli olduğunu görmək üçün toxunun.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Proqnoz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Qarşıdakı havaya və bitkiyə əsaslanır. Sahədə hələ heç nə görünməyib.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pho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70380"/>
            <a:ext cx="2463847" cy="1342874"/>
          </a:xfrm>
          <a:prstGeom prst="roundRect">
            <a:avLst>
              <a:gd name="adj" fmla="val 408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2946590"/>
            <a:ext cx="2463847" cy="229688"/>
          </a:xfrm>
          <a:prstGeom prst="roundRect">
            <a:avLst>
              <a:gd name="adj" fmla="val 2388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981580" y="4069185"/>
            <a:ext cx="2228535" cy="1128975"/>
          </a:xfrm>
          <a:prstGeom prst="roundRect">
            <a:avLst>
              <a:gd name="adj" fmla="val 4860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0238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0238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293799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293799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762124" y="410118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762124" y="410118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a photo, find the disease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takes a photo of a sick leaf. The app says what it most likely is, and what to do.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likely cause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Powdery mildew, 78% match.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on the plant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be sure, and what brings it on.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treatment. Later, your own product can be named here.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Şəkil çəkin, xəstəliyi tapın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 xəstə yarpağın şəklini çəkir. Tətbiq bunun ən çox nə ola biləcəyini və nə etmək lazım olduğunu deyir.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Ən ehtimal olunan səbəb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Unlu şeh, 78% uyğunluq.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Bitkidə yoxlayın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Necə əmin olmaq olar və onu nə yaradır.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etməli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Müalicə yolu. Gələcəkdə burada sizin məhsulunuzun adı ola bilər.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in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387329"/>
            <a:ext cx="2463847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5023105" y="3033859"/>
            <a:ext cx="1937857" cy="243530"/>
          </a:xfrm>
          <a:prstGeom prst="roundRect">
            <a:avLst>
              <a:gd name="adj" fmla="val 225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023105" y="3479393"/>
            <a:ext cx="2145484" cy="249802"/>
          </a:xfrm>
          <a:prstGeom prst="roundRect">
            <a:avLst>
              <a:gd name="adj" fmla="val 21963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750991" y="1965875"/>
            <a:ext cx="1562938" cy="354264"/>
          </a:xfrm>
          <a:prstGeom prst="roundRect">
            <a:avLst>
              <a:gd name="adj" fmla="val 1548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644468" y="141933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644468" y="141933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803649" y="303218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03649" y="303218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803649" y="348085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803649" y="348085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286497" y="199787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286497" y="199787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advice in one place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piece of advice, for every field, in one list. Each one is three short lines.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farm, by how urgent, by kind, by status.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urgent, what kind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or Monitor. Water, fertiliser or crop protection.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507492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7492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action, in one short line. The field is just above it.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507492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86968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it on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one advice, or all of them, to the person who does the work.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məsləhətlər bir yerdə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Bütün sahələr üçün bütün məsləhətlər bir siyahıdadır. Hər biri üç qısa sətirdir.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Təsərrüfata, ciddiliyə, növə və statusa görə.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7898587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98587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278063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qədər təcili, hansı növ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Təcili və ya Nəzarət. Su, gübrə və ya bitki mühafizəsi.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7898587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898587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78063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etməli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Görüləcək iş, bir qısa sətirdə. Sahənin adı onun üstündədir.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7898587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898587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8278063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Göndərin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məsləhəti və ya hamısını işi görən adama göndərin.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irrig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981580" y="1916455"/>
            <a:ext cx="2228535" cy="839269"/>
          </a:xfrm>
          <a:prstGeom prst="roundRect">
            <a:avLst>
              <a:gd name="adj" fmla="val 653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981580" y="3158435"/>
            <a:ext cx="2228535" cy="430395"/>
          </a:xfrm>
          <a:prstGeom prst="roundRect">
            <a:avLst>
              <a:gd name="adj" fmla="val 12747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63924" y="3748011"/>
            <a:ext cx="2463847" cy="1270096"/>
          </a:xfrm>
          <a:prstGeom prst="roundRect">
            <a:avLst>
              <a:gd name="adj" fmla="val 4320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822399" y="5031949"/>
            <a:ext cx="2546898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762124" y="194845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62124" y="194845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762124" y="3190439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2124" y="3190439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4644468" y="3780015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44468" y="3780015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602943" y="506395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602943" y="506395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Irrigation advice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water to give this week, on which days, and why.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this week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 m³ per hectare, in three waterings.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Compared with usual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more than the farmer usually gives.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507492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07492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86968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much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today’s weather and the crop.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507492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507492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86968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 sends it to the farmer or worker.</a:t>
            </a:r>
            <a:endParaRPr 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Suvarma məsləhəti</a:t>
            </a:r>
            <a:endParaRPr lang="en-US" sz="2400" dirty="0"/>
          </a:p>
        </p:txBody>
      </p:sp>
      <p:sp>
        <p:nvSpPr>
          <p:cNvPr id="32" name="Text 29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həftə nə qədər su vermək lazımdır, hansı günlərdə və niyə.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280720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həftənin suyu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Hektara 693 m³, üç suvarmada.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7898587" y="369417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898587" y="369417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8278063" y="369874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 həftə ilə müqayisədə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Fermerin adətən verdiyindən 20% çox.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7898587" y="458571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898587" y="458571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8278063" y="459028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Niyə bu qədər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Bugünkü havaya və bitkiyə görə hesablanır.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7898587" y="547725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7898587" y="547725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8278063" y="5481828"/>
            <a:ext cx="3410712" cy="8183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Göndər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toxunuşla fermerə və ya işçiyə gedir.</a:t>
            </a:r>
            <a:endParaRPr lang="en-US" sz="1350" dirty="0"/>
          </a:p>
        </p:txBody>
      </p:sp>
      <p:sp>
        <p:nvSpPr>
          <p:cNvPr id="45" name="Text 42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fertilis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469732"/>
            <a:ext cx="2463847" cy="1722660"/>
          </a:xfrm>
          <a:prstGeom prst="roundRect">
            <a:avLst>
              <a:gd name="adj" fmla="val 3185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3633383"/>
            <a:ext cx="2463847" cy="1064091"/>
          </a:xfrm>
          <a:prstGeom prst="roundRect">
            <a:avLst>
              <a:gd name="adj" fmla="val 5156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22399" y="5031949"/>
            <a:ext cx="2546898" cy="401413"/>
          </a:xfrm>
          <a:prstGeom prst="roundRect">
            <a:avLst>
              <a:gd name="adj" fmla="val 13668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017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017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366538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366538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02943" y="5063953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02943" y="5063953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Fertiliser advice, with products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crop is missing, which product to use, how much, and on which day.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days to apply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Green: a good day. Red: do not apply, for example because of strong wind.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apply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 and the amount per hectare. Your own products can be shown here.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to the farmer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tap, and the farmer has the product and the amount.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Gübrə məsləhəti, məhsullarla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Bitkiyə nə çatmır, hansı məhsul lazımdır, nə qədər və hansı gün.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Vermək üçün yaxşı günlər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Yaşıl: yaxşı gün. Qırmızı: verməyin, məsələn, güclü külək olduğu üçün.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vermək lazımdır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Məhsul və hektara miqdar. Burada sizin öz məhsullarınız göstərilə bilər.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Fermerə göndərin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toxunuşla fermer məhsulu və miqdarı öyrənir.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protec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63924" y="1513744"/>
            <a:ext cx="722154" cy="243530"/>
          </a:xfrm>
          <a:prstGeom prst="roundRect">
            <a:avLst>
              <a:gd name="adj" fmla="val 22529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63924" y="1798800"/>
            <a:ext cx="2463847" cy="1190182"/>
          </a:xfrm>
          <a:prstGeom prst="roundRect">
            <a:avLst>
              <a:gd name="adj" fmla="val 4610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63924" y="3030507"/>
            <a:ext cx="2463847" cy="1562181"/>
          </a:xfrm>
          <a:prstGeom prst="roundRect">
            <a:avLst>
              <a:gd name="adj" fmla="val 3512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4644468" y="1512065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44468" y="1512065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644468" y="183080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644468" y="183080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644468" y="3062511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644468" y="3062511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protection advice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active ingredient to spray, how much, and on which days.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urgent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means: act now.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ingredient and dose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0.02 L in 20 L of water. Any product with this ingredient fits, including yours.</a:t>
            </a:r>
            <a:endParaRPr lang="en-US" sz="1350" dirty="0"/>
          </a:p>
        </p:txBody>
      </p:sp>
      <p:sp>
        <p:nvSpPr>
          <p:cNvPr id="21" name="Shape 18"/>
          <p:cNvSpPr/>
          <p:nvPr/>
        </p:nvSpPr>
        <p:spPr>
          <a:xfrm>
            <a:off x="507492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07492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86968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Spray days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days the weather is good or bad for spraying.</a:t>
            </a:r>
            <a:endParaRPr 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Bitki mühafizəsi məsləhəti</a:t>
            </a:r>
            <a:endParaRPr lang="en-US" sz="2400" dirty="0"/>
          </a:p>
        </p:txBody>
      </p:sp>
      <p:sp>
        <p:nvSpPr>
          <p:cNvPr id="26" name="Text 23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Hansı təsiredici maddəni çiləmək lazımdır, nə qədər və hansı günlərdə.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9" name="Text 26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Nə qədər təcili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Təcili o deməkdir ki, indi tədbir görmək lazımdır.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Təsiredici maddə və doza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litr suya 0,02 litr. Bu maddəsi olan istənilən məhsul uyğundur, sizinki də.</a:t>
            </a:r>
            <a:endParaRPr lang="en-US" sz="1350" dirty="0"/>
          </a:p>
        </p:txBody>
      </p:sp>
      <p:sp>
        <p:nvSpPr>
          <p:cNvPr id="33" name="Shape 30"/>
          <p:cNvSpPr/>
          <p:nvPr/>
        </p:nvSpPr>
        <p:spPr>
          <a:xfrm>
            <a:off x="7898587" y="4850892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898587" y="4850892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35" name="Text 32"/>
          <p:cNvSpPr txBox="1"/>
          <p:nvPr/>
        </p:nvSpPr>
        <p:spPr>
          <a:xfrm>
            <a:off x="8278063" y="4855464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Çiləmə günləri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Hansı günlərdə hava çiləmə üçün yaxşı və ya pisdir.</a:t>
            </a:r>
            <a:endParaRPr lang="en-US" sz="1350" dirty="0"/>
          </a:p>
        </p:txBody>
      </p:sp>
      <p:sp>
        <p:nvSpPr>
          <p:cNvPr id="36" name="Text 3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white-label-mockup/.advicedeck/s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49376" y="411480"/>
            <a:ext cx="2892943" cy="603504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822399" y="4131473"/>
            <a:ext cx="2546898" cy="1558072"/>
          </a:xfrm>
          <a:prstGeom prst="roundRect">
            <a:avLst>
              <a:gd name="adj" fmla="val 3521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4822399" y="5703386"/>
            <a:ext cx="2546898" cy="390167"/>
          </a:xfrm>
          <a:prstGeom prst="roundRect">
            <a:avLst>
              <a:gd name="adj" fmla="val 14062"/>
            </a:avLst>
          </a:prstGeom>
          <a:solidFill>
            <a:srgbClr val="FFFFFF">
              <a:alpha val="0"/>
            </a:srgbClr>
          </a:solidFill>
          <a:ln w="19050">
            <a:solidFill>
              <a:srgbClr val="2E8F6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602943" y="4163477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602943" y="4163477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7341864" y="5735390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41864" y="5735390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ENGLISH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advice to the farmer</a:t>
            </a:r>
            <a:endParaRPr lang="en-US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502920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person, and the advice goes to them. It arrives by WhatsApp or SMS, with a link.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7492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07492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6968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the person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 and a phone number. They do not need the app.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07492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7492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7" name="Text 14"/>
          <p:cNvSpPr txBox="1"/>
          <p:nvPr/>
        </p:nvSpPr>
        <p:spPr>
          <a:xfrm>
            <a:off x="886968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or SMS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message has a link to the full advice.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7894015" y="502920"/>
            <a:ext cx="3794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AZƏRBAYCANCA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7894015" y="786384"/>
            <a:ext cx="3794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Məsləhəti fermerə göndərin</a:t>
            </a:r>
            <a:endParaRPr lang="en-US" sz="2400" dirty="0"/>
          </a:p>
        </p:txBody>
      </p:sp>
      <p:sp>
        <p:nvSpPr>
          <p:cNvPr id="20" name="Text 17"/>
          <p:cNvSpPr txBox="1"/>
          <p:nvPr/>
        </p:nvSpPr>
        <p:spPr>
          <a:xfrm>
            <a:off x="7894015" y="1664208"/>
            <a:ext cx="3794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Adamı seçin və məsləhət ona gedir. WhatsApp və ya SMS ilə, keçidlə birlikdə çatır.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898587" y="2802636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898587" y="2802636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23" name="Text 20"/>
          <p:cNvSpPr txBox="1"/>
          <p:nvPr/>
        </p:nvSpPr>
        <p:spPr>
          <a:xfrm>
            <a:off x="8278063" y="2807208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Adamı seçin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və telefon nömrəsi. Onlara tətbiq lazım deyil.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7898587" y="3826764"/>
            <a:ext cx="246888" cy="246888"/>
          </a:xfrm>
          <a:prstGeom prst="ellipse">
            <a:avLst/>
          </a:prstGeom>
          <a:solidFill>
            <a:srgbClr val="114230"/>
          </a:solidFill>
          <a:ln w="15875">
            <a:solidFill>
              <a:srgbClr val="FFFFF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898587" y="3826764"/>
            <a:ext cx="246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8278063" y="3831336"/>
            <a:ext cx="341071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5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və ya SMS</a:t>
            </a:r>
            <a:endParaRPr lang="en-US" sz="13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Mesajda tam məsləhətə keçid var.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D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4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548640"/>
            <a:ext cx="10789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your products reach the farmer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11556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Məhsullarınız fermerə necə çatır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6" name="Image 0" descr="/home/user/white-label-mockup/.advicedeck/icon-eye-FFFF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2414016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535860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 every field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 and weather, every week.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Hər sahəni izləyirik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Peyk və hava, hər həftə.</a:t>
            </a:r>
            <a:endParaRPr lang="en-US" sz="1400" dirty="0"/>
          </a:p>
        </p:txBody>
      </p:sp>
      <p:pic>
        <p:nvPicPr>
          <p:cNvPr id="10" name="Image 1" descr="/home/user/white-label-mockup/.advicedeck/icon-forward-8EC9A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7652" y="356616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3486836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3761156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13" name="Image 2" descr="/home/user/white-label-mockup/.advicedeck/icon-sparkles-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6604" y="241401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5336896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0"/>
          <p:cNvSpPr txBox="1"/>
          <p:nvPr/>
        </p:nvSpPr>
        <p:spPr>
          <a:xfrm>
            <a:off x="3761156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finds the need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Water, fertiliser or crop protection.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3761156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Süni intellekt ehtiyacı tapır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Su, gübrə və ya bitki mühafizəsi.</a:t>
            </a:r>
            <a:endParaRPr lang="en-US" sz="1400" dirty="0"/>
          </a:p>
        </p:txBody>
      </p:sp>
      <p:pic>
        <p:nvPicPr>
          <p:cNvPr id="17" name="Image 3" descr="/home/user/white-label-mockup/.advicedeck/icon-forward-8EC9A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58688" y="3566160"/>
            <a:ext cx="274320" cy="274320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6287872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EEF7F2"/>
          </a:solidFill>
          <a:ln w="12700">
            <a:solidFill>
              <a:srgbClr val="EEF7F2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6562192" y="2258568"/>
            <a:ext cx="676656" cy="676656"/>
          </a:xfrm>
          <a:prstGeom prst="ellipse">
            <a:avLst/>
          </a:prstGeom>
          <a:solidFill>
            <a:srgbClr val="114230"/>
          </a:solidFill>
          <a:ln w="12700">
            <a:solidFill>
              <a:srgbClr val="114230"/>
            </a:solidFill>
            <a:prstDash val="solid"/>
          </a:ln>
        </p:spPr>
      </p:sp>
      <p:pic>
        <p:nvPicPr>
          <p:cNvPr id="20" name="Image 4" descr="/home/user/white-label-mockup/.advicedeck/icon-basket-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7640" y="2414016"/>
            <a:ext cx="365760" cy="36576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8137931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1B73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22" name="Text 15"/>
          <p:cNvSpPr txBox="1"/>
          <p:nvPr/>
        </p:nvSpPr>
        <p:spPr>
          <a:xfrm>
            <a:off x="6562192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Advice with your product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from your own catalogue.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562192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0D14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Sizin məhsulunuzla məsləhət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4A58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Öz kataloqunuzdan seçilir.</a:t>
            </a:r>
            <a:endParaRPr lang="en-US" sz="1400" dirty="0"/>
          </a:p>
        </p:txBody>
      </p:sp>
      <p:pic>
        <p:nvPicPr>
          <p:cNvPr id="24" name="Image 5" descr="/home/user/white-label-mockup/.advicedeck/icon-forward-8EC9A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9723" y="3566160"/>
            <a:ext cx="274320" cy="27432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9088907" y="1965960"/>
            <a:ext cx="2416988" cy="3474720"/>
          </a:xfrm>
          <a:prstGeom prst="roundRect">
            <a:avLst>
              <a:gd name="adj" fmla="val 5297"/>
            </a:avLst>
          </a:prstGeom>
          <a:solidFill>
            <a:srgbClr val="145C40"/>
          </a:solidFill>
          <a:ln w="12700">
            <a:solidFill>
              <a:srgbClr val="145C40"/>
            </a:solidFill>
            <a:prstDash val="solid"/>
          </a:ln>
        </p:spPr>
      </p:sp>
      <p:sp>
        <p:nvSpPr>
          <p:cNvPr id="26" name="Shape 18"/>
          <p:cNvSpPr/>
          <p:nvPr/>
        </p:nvSpPr>
        <p:spPr>
          <a:xfrm>
            <a:off x="9363227" y="2258568"/>
            <a:ext cx="676656" cy="676656"/>
          </a:xfrm>
          <a:prstGeom prst="ellipse">
            <a:avLst/>
          </a:prstGeom>
          <a:solidFill>
            <a:srgbClr val="1B7350"/>
          </a:solidFill>
          <a:ln w="12700">
            <a:solidFill>
              <a:srgbClr val="1B7350"/>
            </a:solidFill>
            <a:prstDash val="solid"/>
          </a:ln>
        </p:spPr>
      </p:sp>
      <p:pic>
        <p:nvPicPr>
          <p:cNvPr id="27" name="Image 6" descr="/home/user/white-label-mockup/.advicedeck/icon-whatsapp-FFFFFF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18675" y="2414016"/>
            <a:ext cx="365760" cy="36576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0938967" y="224028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8EC9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000" dirty="0"/>
          </a:p>
        </p:txBody>
      </p:sp>
      <p:sp>
        <p:nvSpPr>
          <p:cNvPr id="29" name="Text 20"/>
          <p:cNvSpPr txBox="1"/>
          <p:nvPr/>
        </p:nvSpPr>
        <p:spPr>
          <a:xfrm>
            <a:off x="9363227" y="3108960"/>
            <a:ext cx="18683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farmer gets it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WhatsApp or SMS, in plain words.</a:t>
            </a:r>
            <a:endParaRPr lang="en-US" sz="1500" dirty="0"/>
          </a:p>
        </p:txBody>
      </p:sp>
      <p:sp>
        <p:nvSpPr>
          <p:cNvPr id="30" name="Text 21"/>
          <p:cNvSpPr txBox="1"/>
          <p:nvPr/>
        </p:nvSpPr>
        <p:spPr>
          <a:xfrm>
            <a:off x="9363227" y="4251960"/>
            <a:ext cx="186834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Fermer onu alır</a:t>
            </a:r>
            <a:endParaRPr lang="en-US" sz="14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və ya SMS ilə, sadə sözlərlə.</a:t>
            </a:r>
            <a:endParaRPr lang="en-US" sz="1400" dirty="0"/>
          </a:p>
        </p:txBody>
      </p:sp>
      <p:sp>
        <p:nvSpPr>
          <p:cNvPr id="31" name="Text 22"/>
          <p:cNvSpPr txBox="1"/>
          <p:nvPr/>
        </p:nvSpPr>
        <p:spPr>
          <a:xfrm>
            <a:off x="685800" y="576072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step: we connect your product catalogue to the AI advice.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Növbəti addım: məhsul kataloqunuzu süni intellekt məsləhətlərinə qoşuruq.</a:t>
            </a:r>
            <a:endParaRPr lang="en-US" sz="1500" dirty="0"/>
          </a:p>
        </p:txBody>
      </p:sp>
      <p:sp>
        <p:nvSpPr>
          <p:cNvPr id="32" name="Text 23"/>
          <p:cNvSpPr txBox="1"/>
          <p:nvPr/>
        </p:nvSpPr>
        <p:spPr>
          <a:xfrm>
            <a:off x="10774375" y="647395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BDE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Wafra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Plant health, disease risk and advice — Wafra Farm</dc:title>
  <dc:subject>PptxGenJS Presentation</dc:subject>
  <dc:creator>Wafra</dc:creator>
  <cp:lastModifiedBy>Wafra</cp:lastModifiedBy>
  <cp:revision>1</cp:revision>
  <dcterms:created xsi:type="dcterms:W3CDTF">2026-09-24T22:07:05Z</dcterms:created>
  <dcterms:modified xsi:type="dcterms:W3CDTF">2026-09-24T22:07:05Z</dcterms:modified>
</cp:coreProperties>
</file>