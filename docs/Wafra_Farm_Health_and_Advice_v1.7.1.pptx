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2.png"/><Relationship Id="rId5" Type="http://schemas.openxmlformats.org/officeDocument/2006/relationships/image" Target="../media/image-11-5.png"/><Relationship Id="rId6" Type="http://schemas.openxmlformats.org/officeDocument/2006/relationships/image" Target="../media/image-11-2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35240" y="0"/>
            <a:ext cx="4556455" cy="6858000"/>
          </a:xfrm>
          <a:prstGeom prst="rect">
            <a:avLst/>
          </a:prstGeom>
          <a:solidFill>
            <a:srgbClr val="EEF7F2"/>
          </a:solidFill>
          <a:ln w="12700">
            <a:solidFill>
              <a:srgbClr val="EEF7F2"/>
            </a:solidFill>
            <a:prstDash val="solid"/>
          </a:ln>
        </p:spPr>
      </p:sp>
      <p:pic>
        <p:nvPicPr>
          <p:cNvPr id="3" name="Image 0" descr="/home/user/white-label-mockup/.advicedeck/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32745" y="548640"/>
            <a:ext cx="2761446" cy="5760720"/>
          </a:xfrm>
          <a:prstGeom prst="rect">
            <a:avLst/>
          </a:prstGeom>
        </p:spPr>
      </p:pic>
      <p:pic>
        <p:nvPicPr>
          <p:cNvPr id="4" name="Image 1" descr="/home/user/white-label-mockup/.advicedeck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94360"/>
            <a:ext cx="1632753" cy="566928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1783080"/>
            <a:ext cx="6720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B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050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2093976"/>
            <a:ext cx="6720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14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health, disease risk and advice</a:t>
            </a:r>
            <a:endParaRPr lang="en-US" sz="2700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2679192"/>
            <a:ext cx="6720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tour of the Wafra Farm app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3044952"/>
            <a:ext cx="6720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partners who want to send advice, and their own products, to their farmers.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3794760"/>
            <a:ext cx="6720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B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AZƏRBAYCANCA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4105656"/>
            <a:ext cx="6720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14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Bitki sağlamlığı, xəstəlik riski və məsləhətlər</a:t>
            </a:r>
            <a:endParaRPr lang="en-US" sz="2700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4690872"/>
            <a:ext cx="6720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Wafra Farm tətbiqinə qısa baxış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5056632"/>
            <a:ext cx="6720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Fermerlərinə məsləhət və öz məhsullarını göndərmək istəyən tərəfdaşlar üçün.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685800" y="6291072"/>
            <a:ext cx="6720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F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screens are from the Azerbaijani version of the app.  ·  Ekranlar tətbiqin Azərbaycan dilindəki versiyasındandır.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hite-label-mockup/.advicedeck/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9376" y="411480"/>
            <a:ext cx="2892943" cy="60350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644468" y="4823992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4644468" y="482399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4644468" y="5191236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644468" y="519123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755384" y="5441416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755384" y="544141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50292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B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786384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health of every field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502920" y="1664208"/>
            <a:ext cx="3794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 shows all fields from the satellite. The colour tells you how healthy the plants are.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07492" y="2802636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07492" y="280263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886968" y="2807208"/>
            <a:ext cx="341071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what to see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health, water, and more.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07492" y="3826764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7492" y="382676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886968" y="3831336"/>
            <a:ext cx="341071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= health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 is weak. Green is strong.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507492" y="4850892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07492" y="485089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886968" y="4855464"/>
            <a:ext cx="341071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back in time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date to see how the field has changed.</a:t>
            </a:r>
            <a:endParaRPr lang="en-US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7894015" y="50292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B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AZƏRBAYCANCA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7894015" y="786384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Hər sahənin sağlamlığını görün</a:t>
            </a:r>
            <a:endParaRPr lang="en-US" sz="2400" dirty="0"/>
          </a:p>
        </p:txBody>
      </p:sp>
      <p:sp>
        <p:nvSpPr>
          <p:cNvPr id="23" name="Text 20"/>
          <p:cNvSpPr txBox="1"/>
          <p:nvPr/>
        </p:nvSpPr>
        <p:spPr>
          <a:xfrm>
            <a:off x="7894015" y="1664208"/>
            <a:ext cx="3794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Xəritə bütün sahələri peykdən göstərir. Rəng bitkilərin nə qədər sağlam olduğunu deyir.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7898587" y="2802636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898587" y="280263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8278063" y="2807208"/>
            <a:ext cx="341071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Nəyə baxacağınızı seçin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Bitki sağlamlığı, su və başqaları.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7898587" y="3826764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898587" y="382676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8278063" y="3831336"/>
            <a:ext cx="341071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Rəng = sağlamlıq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Qəhvəyi zəifdir. Yaşıl güclüdür.</a:t>
            </a:r>
            <a:endParaRPr lang="en-US" sz="1350" dirty="0"/>
          </a:p>
        </p:txBody>
      </p:sp>
      <p:sp>
        <p:nvSpPr>
          <p:cNvPr id="30" name="Shape 27"/>
          <p:cNvSpPr/>
          <p:nvPr/>
        </p:nvSpPr>
        <p:spPr>
          <a:xfrm>
            <a:off x="7898587" y="4850892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898587" y="485089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8278063" y="4855464"/>
            <a:ext cx="341071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Keçmişə baxın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Tarixi dəyişin və sahənin necə dəyişdiyini görün.</a:t>
            </a:r>
            <a:endParaRPr lang="en-US" sz="1350" dirty="0"/>
          </a:p>
        </p:txBody>
      </p:sp>
      <p:sp>
        <p:nvSpPr>
          <p:cNvPr id="33" name="Text 30"/>
          <p:cNvSpPr txBox="1"/>
          <p:nvPr/>
        </p:nvSpPr>
        <p:spPr>
          <a:xfrm>
            <a:off x="1077437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hite-label-mockup/.advicedeck/heal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9376" y="411480"/>
            <a:ext cx="2892943" cy="60350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644468" y="1499248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4644468" y="149924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6656401" y="2872512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56401" y="287251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762124" y="3716105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762124" y="3716105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50292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B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786384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health of one field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502920" y="1664208"/>
            <a:ext cx="3794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field. You see what the satellite found, in plain words, and a health score from 0 to 100.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07492" y="2802636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07492" y="280263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886968" y="2807208"/>
            <a:ext cx="341071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satellite sees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wrong, and where. Here: whitefly damage in the western rows. Act in 2–3 days.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07492" y="3826764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7492" y="382676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886968" y="3831336"/>
            <a:ext cx="341071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out of 100. The word and the colour say how serious it is.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507492" y="4850892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07492" y="485089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886968" y="4855464"/>
            <a:ext cx="341071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by week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green line is this field. The dotted line is the target.</a:t>
            </a:r>
            <a:endParaRPr lang="en-US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7894015" y="50292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B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AZƏRBAYCANCA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7894015" y="786384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sahənin sağlamlığı</a:t>
            </a:r>
            <a:endParaRPr lang="en-US" sz="2400" dirty="0"/>
          </a:p>
        </p:txBody>
      </p:sp>
      <p:sp>
        <p:nvSpPr>
          <p:cNvPr id="23" name="Text 20"/>
          <p:cNvSpPr txBox="1"/>
          <p:nvPr/>
        </p:nvSpPr>
        <p:spPr>
          <a:xfrm>
            <a:off x="7894015" y="1664208"/>
            <a:ext cx="3794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Sahəni açın. Peykin nə tapdığını sadə sözlərlə və 0-dan 100-ə qədər sağlamlıq balını görürsünüz.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7898587" y="2802636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898587" y="280263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8278063" y="2807208"/>
            <a:ext cx="341071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Peyk nə görür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nədir və haradadır. Burada: qərb cərgələrində ağ milçək zərəri. 2–3 gün ərzində tədbir görün.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7898587" y="3826764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898587" y="382676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8278063" y="3831336"/>
            <a:ext cx="341071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Sağlamlıq balı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100-dən 44. Söz və rəng vəziyyətin nə qədər ciddi olduğunu deyir.</a:t>
            </a:r>
            <a:endParaRPr lang="en-US" sz="1350" dirty="0"/>
          </a:p>
        </p:txBody>
      </p:sp>
      <p:sp>
        <p:nvSpPr>
          <p:cNvPr id="30" name="Shape 27"/>
          <p:cNvSpPr/>
          <p:nvPr/>
        </p:nvSpPr>
        <p:spPr>
          <a:xfrm>
            <a:off x="7898587" y="4850892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898587" y="485089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8278063" y="4855464"/>
            <a:ext cx="341071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Həftə-həftə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Yaşıl xətt bu sahədir. Nöqtəli xətt hədəfdir.</a:t>
            </a:r>
            <a:endParaRPr lang="en-US" sz="1350" dirty="0"/>
          </a:p>
        </p:txBody>
      </p:sp>
      <p:sp>
        <p:nvSpPr>
          <p:cNvPr id="33" name="Text 30"/>
          <p:cNvSpPr txBox="1"/>
          <p:nvPr/>
        </p:nvSpPr>
        <p:spPr>
          <a:xfrm>
            <a:off x="1077437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hite-label-mockup/.advicedeck/ri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9376" y="411480"/>
            <a:ext cx="2892943" cy="60350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644468" y="1503033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4644468" y="1503033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4651389" y="3933789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651389" y="3933789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182683" y="3358704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182683" y="335870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50292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B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786384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risk, before it starts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502920" y="1664208"/>
            <a:ext cx="3794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looks at the weather ahead and at the crop. It shows which diseases and pests may come, and when.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07492" y="2802636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07492" y="280263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886968" y="2807208"/>
            <a:ext cx="341071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stage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flowering, stage 3 of 6. The risk depends on the stage.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07492" y="3826764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7492" y="382676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886968" y="3831336"/>
            <a:ext cx="341071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or pest, and its risk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blight: 62% likely, highest in 9 to 11 days. Tap to see what to do.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507492" y="4850892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07492" y="485089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886968" y="4855464"/>
            <a:ext cx="341071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forecast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comes from the weather ahead and the crop. Nothing is seen on the field yet.</a:t>
            </a:r>
            <a:endParaRPr lang="en-US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7894015" y="50292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B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AZƏRBAYCANCA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7894015" y="786384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Xəstəlik riski, başlamazdan əvvəl</a:t>
            </a:r>
            <a:endParaRPr lang="en-US" sz="2400" dirty="0"/>
          </a:p>
        </p:txBody>
      </p:sp>
      <p:sp>
        <p:nvSpPr>
          <p:cNvPr id="23" name="Text 20"/>
          <p:cNvSpPr txBox="1"/>
          <p:nvPr/>
        </p:nvSpPr>
        <p:spPr>
          <a:xfrm>
            <a:off x="7894015" y="1664208"/>
            <a:ext cx="3794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Tətbiq qarşıdakı havaya və bitkiyə baxır. Hansı xəstəlik və zərərvericilərin gələ biləcəyini və nə vaxt gələcəyini göstərir.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7898587" y="2802636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898587" y="280263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8278063" y="2807208"/>
            <a:ext cx="341071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Bitkinin inkişaf mərhələsi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İndi: çiçəkləmə, 6 mərhələdən 3-cü. Risk mərhələdən asılıdır.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7898587" y="3826764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898587" y="382676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8278063" y="3831336"/>
            <a:ext cx="341071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Xəstəlik və ya zərərverici və onun riski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Fitoftoroz: 62% ehtimal, ən yüksək risk 9–11 gün sonra. Nə etməli olduğunu görmək üçün toxunun.</a:t>
            </a:r>
            <a:endParaRPr lang="en-US" sz="1350" dirty="0"/>
          </a:p>
        </p:txBody>
      </p:sp>
      <p:sp>
        <p:nvSpPr>
          <p:cNvPr id="30" name="Shape 27"/>
          <p:cNvSpPr/>
          <p:nvPr/>
        </p:nvSpPr>
        <p:spPr>
          <a:xfrm>
            <a:off x="7898587" y="4850892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898587" y="485089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8278063" y="4855464"/>
            <a:ext cx="341071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Proqnoz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Qarşıdakı havaya və bitkiyə əsaslanır. Sahədə hələ heç nə görünməyib.</a:t>
            </a:r>
            <a:endParaRPr lang="en-US" sz="1350" dirty="0"/>
          </a:p>
        </p:txBody>
      </p:sp>
      <p:sp>
        <p:nvSpPr>
          <p:cNvPr id="33" name="Text 30"/>
          <p:cNvSpPr txBox="1"/>
          <p:nvPr/>
        </p:nvSpPr>
        <p:spPr>
          <a:xfrm>
            <a:off x="1077437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hite-label-mockup/.advicedeck/pho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9376" y="411480"/>
            <a:ext cx="2892943" cy="60350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644468" y="1502384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4644468" y="150238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4644468" y="2937990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644468" y="293799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762124" y="4101189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762124" y="4101189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50292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B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786384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photo, find the disease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502920" y="1664208"/>
            <a:ext cx="3794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farmer takes a photo of a sick leaf. The app says what it most likely is, and what to do.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07492" y="2802636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07492" y="280263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886968" y="2807208"/>
            <a:ext cx="341071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likely cause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Powdery mildew, 78% match.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07492" y="3826764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7492" y="382676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886968" y="3831336"/>
            <a:ext cx="341071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on the plant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be sure, and what brings it on.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507492" y="4850892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07492" y="485089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886968" y="4855464"/>
            <a:ext cx="341071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treatment. Later, your own product can be named here.</a:t>
            </a:r>
            <a:endParaRPr lang="en-US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7894015" y="50292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B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AZƏRBAYCANCA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7894015" y="786384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Şəkil çəkin, xəstəliyi tapın</a:t>
            </a:r>
            <a:endParaRPr lang="en-US" sz="2400" dirty="0"/>
          </a:p>
        </p:txBody>
      </p:sp>
      <p:sp>
        <p:nvSpPr>
          <p:cNvPr id="23" name="Text 20"/>
          <p:cNvSpPr txBox="1"/>
          <p:nvPr/>
        </p:nvSpPr>
        <p:spPr>
          <a:xfrm>
            <a:off x="7894015" y="1664208"/>
            <a:ext cx="3794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Fermer xəstə yarpağın şəklini çəkir. Tətbiq bunun ən çox nə ola biləcəyini və nə etmək lazım olduğunu deyir.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7898587" y="2802636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898587" y="280263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8278063" y="2807208"/>
            <a:ext cx="341071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Ən ehtimal olunan səbəb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Unlu şeh, 78% uyğunluq.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7898587" y="3826764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898587" y="382676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8278063" y="3831336"/>
            <a:ext cx="341071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Bitkidə yoxlayın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Necə əmin olmaq olar və onu nə yaradır.</a:t>
            </a:r>
            <a:endParaRPr lang="en-US" sz="1350" dirty="0"/>
          </a:p>
        </p:txBody>
      </p:sp>
      <p:sp>
        <p:nvSpPr>
          <p:cNvPr id="30" name="Shape 27"/>
          <p:cNvSpPr/>
          <p:nvPr/>
        </p:nvSpPr>
        <p:spPr>
          <a:xfrm>
            <a:off x="7898587" y="4850892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898587" y="485089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8278063" y="4855464"/>
            <a:ext cx="341071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Nə etməli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Müalicə yolu. Gələcəkdə burada sizin məhsulunuzun adı ola bilər.</a:t>
            </a:r>
            <a:endParaRPr lang="en-US" sz="1350" dirty="0"/>
          </a:p>
        </p:txBody>
      </p:sp>
      <p:sp>
        <p:nvSpPr>
          <p:cNvPr id="33" name="Text 30"/>
          <p:cNvSpPr txBox="1"/>
          <p:nvPr/>
        </p:nvSpPr>
        <p:spPr>
          <a:xfrm>
            <a:off x="1077437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hite-label-mockup/.advicedeck/inb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9376" y="411480"/>
            <a:ext cx="2892943" cy="60350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644468" y="1419333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4644468" y="1419333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4803649" y="3032180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803649" y="303218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803649" y="3480850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03649" y="348085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286497" y="1997879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286497" y="1997879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502920" y="50292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B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502920" y="786384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advice in one place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502920" y="1664208"/>
            <a:ext cx="3794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piece of advice, for every field, in one list. Each one is three short lines.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07492" y="2802636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07492" y="280263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886968" y="2807208"/>
            <a:ext cx="3410712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farm, by how urgent, by kind, by status.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07492" y="3694176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07492" y="369417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886968" y="3698748"/>
            <a:ext cx="3410712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urgent, what kind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or Monitor. Water, fertiliser or crop protection.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507492" y="4585716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07492" y="458571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886968" y="4590288"/>
            <a:ext cx="3410712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action, in one short line. The field is just above it.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507492" y="5477256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07492" y="547725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886968" y="5481828"/>
            <a:ext cx="3410712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it on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one advice, or all of them, to the person who does the work.</a:t>
            </a:r>
            <a:endParaRPr lang="en-US" sz="1350" dirty="0"/>
          </a:p>
        </p:txBody>
      </p:sp>
      <p:sp>
        <p:nvSpPr>
          <p:cNvPr id="26" name="Text 23"/>
          <p:cNvSpPr txBox="1"/>
          <p:nvPr/>
        </p:nvSpPr>
        <p:spPr>
          <a:xfrm>
            <a:off x="7894015" y="50292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B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AZƏRBAYCANCA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7894015" y="786384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Bütün məsləhətlər bir yerdə</a:t>
            </a:r>
            <a:endParaRPr lang="en-US" sz="2400" dirty="0"/>
          </a:p>
        </p:txBody>
      </p:sp>
      <p:sp>
        <p:nvSpPr>
          <p:cNvPr id="28" name="Text 25"/>
          <p:cNvSpPr txBox="1"/>
          <p:nvPr/>
        </p:nvSpPr>
        <p:spPr>
          <a:xfrm>
            <a:off x="7894015" y="1664208"/>
            <a:ext cx="3794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Bütün sahələr üçün bütün məsləhətlər bir siyahıdadır. Hər biri üç qısa sətirdir.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7898587" y="2802636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898587" y="280263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8278063" y="2807208"/>
            <a:ext cx="3410712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Təsərrüfata, ciddiliyə, növə və statusa görə.</a:t>
            </a:r>
            <a:endParaRPr lang="en-US" sz="1350" dirty="0"/>
          </a:p>
        </p:txBody>
      </p:sp>
      <p:sp>
        <p:nvSpPr>
          <p:cNvPr id="32" name="Shape 29"/>
          <p:cNvSpPr/>
          <p:nvPr/>
        </p:nvSpPr>
        <p:spPr>
          <a:xfrm>
            <a:off x="7898587" y="3694176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898587" y="369417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8278063" y="3698748"/>
            <a:ext cx="3410712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Nə qədər təcili, hansı növ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Təcili və ya Nəzarət. Su, gübrə və ya bitki mühafizəsi.</a:t>
            </a:r>
            <a:endParaRPr lang="en-US" sz="1350" dirty="0"/>
          </a:p>
        </p:txBody>
      </p:sp>
      <p:sp>
        <p:nvSpPr>
          <p:cNvPr id="35" name="Shape 32"/>
          <p:cNvSpPr/>
          <p:nvPr/>
        </p:nvSpPr>
        <p:spPr>
          <a:xfrm>
            <a:off x="7898587" y="4585716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898587" y="458571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37" name="Text 34"/>
          <p:cNvSpPr txBox="1"/>
          <p:nvPr/>
        </p:nvSpPr>
        <p:spPr>
          <a:xfrm>
            <a:off x="8278063" y="4590288"/>
            <a:ext cx="3410712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Nə etməli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Görüləcək iş, bir qısa sətirdə. Sahənin adı onun üstündədir.</a:t>
            </a:r>
            <a:endParaRPr lang="en-US" sz="1350" dirty="0"/>
          </a:p>
        </p:txBody>
      </p:sp>
      <p:sp>
        <p:nvSpPr>
          <p:cNvPr id="38" name="Shape 35"/>
          <p:cNvSpPr/>
          <p:nvPr/>
        </p:nvSpPr>
        <p:spPr>
          <a:xfrm>
            <a:off x="7898587" y="5477256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898587" y="547725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40" name="Text 37"/>
          <p:cNvSpPr txBox="1"/>
          <p:nvPr/>
        </p:nvSpPr>
        <p:spPr>
          <a:xfrm>
            <a:off x="8278063" y="5481828"/>
            <a:ext cx="3410712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Göndərin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məsləhəti və ya hamısını işi görən adama göndərin.</a:t>
            </a:r>
            <a:endParaRPr lang="en-US" sz="1350" dirty="0"/>
          </a:p>
        </p:txBody>
      </p:sp>
      <p:sp>
        <p:nvSpPr>
          <p:cNvPr id="41" name="Text 38"/>
          <p:cNvSpPr txBox="1"/>
          <p:nvPr/>
        </p:nvSpPr>
        <p:spPr>
          <a:xfrm>
            <a:off x="1077437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hite-label-mockup/.advicedeck/irrig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9376" y="411480"/>
            <a:ext cx="2892943" cy="60350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762124" y="1948459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4762124" y="1948459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4762124" y="3190439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762124" y="3190439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644468" y="3780015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644468" y="3780015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602943" y="5063953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602943" y="5063953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502920" y="50292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B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502920" y="786384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Irrigation advice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502920" y="1664208"/>
            <a:ext cx="3794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water to give this week, on which days, and why.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07492" y="2802636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07492" y="280263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886968" y="2807208"/>
            <a:ext cx="3410712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this week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693 m³ per hectare, in three waterings.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07492" y="3694176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07492" y="369417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886968" y="3698748"/>
            <a:ext cx="3410712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with usual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more than the farmer usually gives.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507492" y="4585716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07492" y="458571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886968" y="4590288"/>
            <a:ext cx="3410712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much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out from today’s weather and the crop.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507492" y="5477256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07492" y="547725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886968" y="5481828"/>
            <a:ext cx="3410712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to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sends it to the farmer or worker.</a:t>
            </a:r>
            <a:endParaRPr lang="en-US" sz="1350" dirty="0"/>
          </a:p>
        </p:txBody>
      </p:sp>
      <p:sp>
        <p:nvSpPr>
          <p:cNvPr id="26" name="Text 23"/>
          <p:cNvSpPr txBox="1"/>
          <p:nvPr/>
        </p:nvSpPr>
        <p:spPr>
          <a:xfrm>
            <a:off x="7894015" y="50292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B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AZƏRBAYCANCA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7894015" y="786384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Suvarma məsləhəti</a:t>
            </a:r>
            <a:endParaRPr lang="en-US" sz="2400" dirty="0"/>
          </a:p>
        </p:txBody>
      </p:sp>
      <p:sp>
        <p:nvSpPr>
          <p:cNvPr id="28" name="Text 25"/>
          <p:cNvSpPr txBox="1"/>
          <p:nvPr/>
        </p:nvSpPr>
        <p:spPr>
          <a:xfrm>
            <a:off x="7894015" y="1664208"/>
            <a:ext cx="3794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həftə nə qədər su vermək lazımdır, hansı günlərdə və niyə.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7898587" y="2802636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898587" y="280263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8278063" y="2807208"/>
            <a:ext cx="3410712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həftənin suyu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Hektara 693 m³, üç suvarmada.</a:t>
            </a:r>
            <a:endParaRPr lang="en-US" sz="1350" dirty="0"/>
          </a:p>
        </p:txBody>
      </p:sp>
      <p:sp>
        <p:nvSpPr>
          <p:cNvPr id="32" name="Shape 29"/>
          <p:cNvSpPr/>
          <p:nvPr/>
        </p:nvSpPr>
        <p:spPr>
          <a:xfrm>
            <a:off x="7898587" y="3694176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898587" y="369417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8278063" y="3698748"/>
            <a:ext cx="3410712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 həftə ilə müqayisədə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Fermerin adətən verdiyindən 20% çox.</a:t>
            </a:r>
            <a:endParaRPr lang="en-US" sz="1350" dirty="0"/>
          </a:p>
        </p:txBody>
      </p:sp>
      <p:sp>
        <p:nvSpPr>
          <p:cNvPr id="35" name="Shape 32"/>
          <p:cNvSpPr/>
          <p:nvPr/>
        </p:nvSpPr>
        <p:spPr>
          <a:xfrm>
            <a:off x="7898587" y="4585716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898587" y="458571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37" name="Text 34"/>
          <p:cNvSpPr txBox="1"/>
          <p:nvPr/>
        </p:nvSpPr>
        <p:spPr>
          <a:xfrm>
            <a:off x="8278063" y="4590288"/>
            <a:ext cx="3410712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Niyə bu qədər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Bugünkü havaya və bitkiyə görə hesablanır.</a:t>
            </a:r>
            <a:endParaRPr lang="en-US" sz="1350" dirty="0"/>
          </a:p>
        </p:txBody>
      </p:sp>
      <p:sp>
        <p:nvSpPr>
          <p:cNvPr id="38" name="Shape 35"/>
          <p:cNvSpPr/>
          <p:nvPr/>
        </p:nvSpPr>
        <p:spPr>
          <a:xfrm>
            <a:off x="7898587" y="5477256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898587" y="547725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40" name="Text 37"/>
          <p:cNvSpPr txBox="1"/>
          <p:nvPr/>
        </p:nvSpPr>
        <p:spPr>
          <a:xfrm>
            <a:off x="8278063" y="5481828"/>
            <a:ext cx="3410712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Göndər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toxunuşla fermerə və ya işçiyə gedir.</a:t>
            </a:r>
            <a:endParaRPr lang="en-US" sz="1350" dirty="0"/>
          </a:p>
        </p:txBody>
      </p:sp>
      <p:sp>
        <p:nvSpPr>
          <p:cNvPr id="41" name="Text 38"/>
          <p:cNvSpPr txBox="1"/>
          <p:nvPr/>
        </p:nvSpPr>
        <p:spPr>
          <a:xfrm>
            <a:off x="1077437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hite-label-mockup/.advicedeck/fertilis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9376" y="411480"/>
            <a:ext cx="2892943" cy="60350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644468" y="1501736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4644468" y="150173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4644468" y="3665387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644468" y="3665387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602943" y="5063953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602943" y="5063953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50292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B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786384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Fertiliser advice, with products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502920" y="1664208"/>
            <a:ext cx="3794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crop is missing, which product to use, how much, and on which day.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07492" y="2802636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07492" y="280263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886968" y="2807208"/>
            <a:ext cx="341071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days to apply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Green: a good day. Red: do not apply, for example because of strong wind.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07492" y="3826764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7492" y="382676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886968" y="3831336"/>
            <a:ext cx="341071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apply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and the amount per hectare. Your own products can be shown here.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507492" y="4850892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07492" y="485089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886968" y="4855464"/>
            <a:ext cx="341071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to the farmer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tap, and the farmer has the product and the amount.</a:t>
            </a:r>
            <a:endParaRPr lang="en-US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7894015" y="50292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B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AZƏRBAYCANCA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7894015" y="786384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Gübrə məsləhəti, məhsullarla</a:t>
            </a:r>
            <a:endParaRPr lang="en-US" sz="2400" dirty="0"/>
          </a:p>
        </p:txBody>
      </p:sp>
      <p:sp>
        <p:nvSpPr>
          <p:cNvPr id="23" name="Text 20"/>
          <p:cNvSpPr txBox="1"/>
          <p:nvPr/>
        </p:nvSpPr>
        <p:spPr>
          <a:xfrm>
            <a:off x="7894015" y="1664208"/>
            <a:ext cx="3794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Bitkiyə nə çatmır, hansı məhsul lazımdır, nə qədər və hansı gün.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7898587" y="2802636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898587" y="280263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8278063" y="2807208"/>
            <a:ext cx="341071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Vermək üçün yaxşı günlər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Yaşıl: yaxşı gün. Qırmızı: verməyin, məsələn, güclü külək olduğu üçün.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7898587" y="3826764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898587" y="382676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8278063" y="3831336"/>
            <a:ext cx="341071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Nə vermək lazımdır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Məhsul və hektara miqdar. Burada sizin öz məhsullarınız göstərilə bilər.</a:t>
            </a:r>
            <a:endParaRPr lang="en-US" sz="1350" dirty="0"/>
          </a:p>
        </p:txBody>
      </p:sp>
      <p:sp>
        <p:nvSpPr>
          <p:cNvPr id="30" name="Shape 27"/>
          <p:cNvSpPr/>
          <p:nvPr/>
        </p:nvSpPr>
        <p:spPr>
          <a:xfrm>
            <a:off x="7898587" y="4850892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898587" y="485089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8278063" y="4855464"/>
            <a:ext cx="341071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Fermerə göndərin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toxunuşla fermer məhsulu və miqdarı öyrənir.</a:t>
            </a:r>
            <a:endParaRPr lang="en-US" sz="1350" dirty="0"/>
          </a:p>
        </p:txBody>
      </p:sp>
      <p:sp>
        <p:nvSpPr>
          <p:cNvPr id="33" name="Text 30"/>
          <p:cNvSpPr txBox="1"/>
          <p:nvPr/>
        </p:nvSpPr>
        <p:spPr>
          <a:xfrm>
            <a:off x="1077437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hite-label-mockup/.advicedeck/prot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9376" y="411480"/>
            <a:ext cx="2892943" cy="60350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644468" y="1512065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4644468" y="1512065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4644468" y="1830804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644468" y="183080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644468" y="3062511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644468" y="3062511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50292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B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786384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protection advice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502920" y="1664208"/>
            <a:ext cx="3794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active ingredient to spray, how much, and on which days.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07492" y="2802636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07492" y="280263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886968" y="2807208"/>
            <a:ext cx="341071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urgent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means: act now.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07492" y="3826764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7492" y="382676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886968" y="3831336"/>
            <a:ext cx="341071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ingredient and dose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 L in 20 L of water. Any product with this ingredient fits, including yours.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507492" y="4850892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07492" y="485089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886968" y="4855464"/>
            <a:ext cx="341071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Spray days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days the weather is good or bad for spraying.</a:t>
            </a:r>
            <a:endParaRPr lang="en-US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7894015" y="50292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B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AZƏRBAYCANCA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7894015" y="786384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Bitki mühafizəsi məsləhəti</a:t>
            </a:r>
            <a:endParaRPr lang="en-US" sz="2400" dirty="0"/>
          </a:p>
        </p:txBody>
      </p:sp>
      <p:sp>
        <p:nvSpPr>
          <p:cNvPr id="23" name="Text 20"/>
          <p:cNvSpPr txBox="1"/>
          <p:nvPr/>
        </p:nvSpPr>
        <p:spPr>
          <a:xfrm>
            <a:off x="7894015" y="1664208"/>
            <a:ext cx="3794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Hansı təsiredici maddəni çiləmək lazımdır, nə qədər və hansı günlərdə.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7898587" y="2802636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898587" y="280263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8278063" y="2807208"/>
            <a:ext cx="341071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Nə qədər təcili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Təcili o deməkdir ki, indi tədbir görmək lazımdır.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7898587" y="3826764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898587" y="382676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8278063" y="3831336"/>
            <a:ext cx="341071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Təsiredici maddə və doza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litr suya 0,02 litr. Bu maddəsi olan istənilən məhsul uyğundur, sizinki də.</a:t>
            </a:r>
            <a:endParaRPr lang="en-US" sz="1350" dirty="0"/>
          </a:p>
        </p:txBody>
      </p:sp>
      <p:sp>
        <p:nvSpPr>
          <p:cNvPr id="30" name="Shape 27"/>
          <p:cNvSpPr/>
          <p:nvPr/>
        </p:nvSpPr>
        <p:spPr>
          <a:xfrm>
            <a:off x="7898587" y="4850892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898587" y="485089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8278063" y="4855464"/>
            <a:ext cx="341071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Çiləmə günləri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Hansı günlərdə hava çiləmə üçün yaxşı və ya pisdir.</a:t>
            </a:r>
            <a:endParaRPr lang="en-US" sz="1350" dirty="0"/>
          </a:p>
        </p:txBody>
      </p:sp>
      <p:sp>
        <p:nvSpPr>
          <p:cNvPr id="33" name="Text 30"/>
          <p:cNvSpPr txBox="1"/>
          <p:nvPr/>
        </p:nvSpPr>
        <p:spPr>
          <a:xfrm>
            <a:off x="1077437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hite-label-mockup/.advicedeck/s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9376" y="411480"/>
            <a:ext cx="2892943" cy="60350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602943" y="4163477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4602943" y="4163477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7341864" y="5735390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41864" y="573539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50292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B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786384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advice to the farmer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1664208"/>
            <a:ext cx="3794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person, and the advice goes to them. It arrives by WhatsApp or SMS, with a link.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07492" y="2802636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07492" y="280263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886968" y="2807208"/>
            <a:ext cx="341071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person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 and a phone number. They do not need the app.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07492" y="3826764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07492" y="382676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886968" y="3831336"/>
            <a:ext cx="341071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or SMS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message has a link to the full advice.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7894015" y="50292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B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AZƏRBAYCANCA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7894015" y="786384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Məsləhəti fermerə göndərin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7894015" y="1664208"/>
            <a:ext cx="3794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Adamı seçin və məsləhət ona gedir. WhatsApp və ya SMS ilə, keçidlə birlikdə çatır.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7898587" y="2802636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898587" y="280263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8278063" y="2807208"/>
            <a:ext cx="341071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Adamı seçin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və telefon nömrəsi. Onlara tətbiq lazım deyil.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7898587" y="3826764"/>
            <a:ext cx="246888" cy="246888"/>
          </a:xfrm>
          <a:prstGeom prst="ellipse">
            <a:avLst/>
          </a:prstGeom>
          <a:solidFill>
            <a:srgbClr val="11423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898587" y="382676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8278063" y="3831336"/>
            <a:ext cx="341071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və ya SMS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Mesajda tam məsləhətə keçid var.</a:t>
            </a:r>
            <a:endParaRPr lang="en-US" sz="1350" dirty="0"/>
          </a:p>
        </p:txBody>
      </p:sp>
      <p:sp>
        <p:nvSpPr>
          <p:cNvPr id="25" name="Text 22"/>
          <p:cNvSpPr txBox="1"/>
          <p:nvPr/>
        </p:nvSpPr>
        <p:spPr>
          <a:xfrm>
            <a:off x="1077437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4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4864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your products reach the farmer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11556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D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Məhsullarınız fermerə necə çatır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2416988" cy="3474720"/>
          </a:xfrm>
          <a:prstGeom prst="roundRect">
            <a:avLst>
              <a:gd name="adj" fmla="val 5297"/>
            </a:avLst>
          </a:prstGeom>
          <a:solidFill>
            <a:srgbClr val="145C40"/>
          </a:solidFill>
          <a:ln w="12700">
            <a:solidFill>
              <a:srgbClr val="145C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258568"/>
            <a:ext cx="676656" cy="676656"/>
          </a:xfrm>
          <a:prstGeom prst="ellipse">
            <a:avLst/>
          </a:prstGeom>
          <a:solidFill>
            <a:srgbClr val="1B7350"/>
          </a:solidFill>
          <a:ln w="12700">
            <a:solidFill>
              <a:srgbClr val="1B7350"/>
            </a:solidFill>
            <a:prstDash val="solid"/>
          </a:ln>
        </p:spPr>
      </p:sp>
      <p:pic>
        <p:nvPicPr>
          <p:cNvPr id="6" name="Image 0" descr="/home/user/white-label-mockup/.advicedeck/icon-eye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2414016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535860" y="22402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8EC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3108960"/>
            <a:ext cx="18683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watch every field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BD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and weather, every week.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4251960"/>
            <a:ext cx="18683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Hər sahəni izləyirik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BD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Peyk və hava, hər həftə.</a:t>
            </a:r>
            <a:endParaRPr lang="en-US" sz="1400" dirty="0"/>
          </a:p>
        </p:txBody>
      </p:sp>
      <p:pic>
        <p:nvPicPr>
          <p:cNvPr id="10" name="Image 1" descr="/home/user/white-label-mockup/.advicedeck/icon-forward-8EC9A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7652" y="356616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486836" y="1965960"/>
            <a:ext cx="2416988" cy="3474720"/>
          </a:xfrm>
          <a:prstGeom prst="roundRect">
            <a:avLst>
              <a:gd name="adj" fmla="val 5297"/>
            </a:avLst>
          </a:prstGeom>
          <a:solidFill>
            <a:srgbClr val="145C40"/>
          </a:solidFill>
          <a:ln w="12700">
            <a:solidFill>
              <a:srgbClr val="145C4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761156" y="2258568"/>
            <a:ext cx="676656" cy="676656"/>
          </a:xfrm>
          <a:prstGeom prst="ellipse">
            <a:avLst/>
          </a:prstGeom>
          <a:solidFill>
            <a:srgbClr val="1B7350"/>
          </a:solidFill>
          <a:ln w="12700">
            <a:solidFill>
              <a:srgbClr val="1B7350"/>
            </a:solidFill>
            <a:prstDash val="solid"/>
          </a:ln>
        </p:spPr>
      </p:sp>
      <p:pic>
        <p:nvPicPr>
          <p:cNvPr id="13" name="Image 2" descr="/home/user/white-label-mockup/.advicedeck/icon-sparkles-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6604" y="2414016"/>
            <a:ext cx="365760" cy="3657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36896" y="22402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8EC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3761156" y="3108960"/>
            <a:ext cx="18683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finds the need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BD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Water, fertiliser or crop protection.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3761156" y="4251960"/>
            <a:ext cx="18683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Süni intellekt ehtiyacı tapır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BD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Su, gübrə və ya bitki mühafizəsi.</a:t>
            </a:r>
            <a:endParaRPr lang="en-US" sz="1400" dirty="0"/>
          </a:p>
        </p:txBody>
      </p:sp>
      <p:pic>
        <p:nvPicPr>
          <p:cNvPr id="17" name="Image 3" descr="/home/user/white-label-mockup/.advicedeck/icon-forward-8EC9A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8688" y="3566160"/>
            <a:ext cx="274320" cy="27432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287872" y="1965960"/>
            <a:ext cx="2416988" cy="3474720"/>
          </a:xfrm>
          <a:prstGeom prst="roundRect">
            <a:avLst>
              <a:gd name="adj" fmla="val 5297"/>
            </a:avLst>
          </a:prstGeom>
          <a:solidFill>
            <a:srgbClr val="EEF7F2"/>
          </a:solidFill>
          <a:ln w="12700">
            <a:solidFill>
              <a:srgbClr val="EEF7F2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6562192" y="2258568"/>
            <a:ext cx="676656" cy="676656"/>
          </a:xfrm>
          <a:prstGeom prst="ellipse">
            <a:avLst/>
          </a:prstGeom>
          <a:solidFill>
            <a:srgbClr val="114230"/>
          </a:solidFill>
          <a:ln w="12700">
            <a:solidFill>
              <a:srgbClr val="114230"/>
            </a:solidFill>
            <a:prstDash val="solid"/>
          </a:ln>
        </p:spPr>
      </p:sp>
      <p:pic>
        <p:nvPicPr>
          <p:cNvPr id="20" name="Image 4" descr="/home/user/white-label-mockup/.advicedeck/icon-basket-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7640" y="2414016"/>
            <a:ext cx="365760" cy="36576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137931" y="22402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B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15"/>
          <p:cNvSpPr txBox="1"/>
          <p:nvPr/>
        </p:nvSpPr>
        <p:spPr>
          <a:xfrm>
            <a:off x="6562192" y="3108960"/>
            <a:ext cx="18683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Advice with your product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from your own catalogue.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6562192" y="4251960"/>
            <a:ext cx="18683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D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 məhsulunuzla məsləhət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4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 kataloqunuzdan seçilir.</a:t>
            </a:r>
            <a:endParaRPr lang="en-US" sz="1400" dirty="0"/>
          </a:p>
        </p:txBody>
      </p:sp>
      <p:pic>
        <p:nvPicPr>
          <p:cNvPr id="24" name="Image 5" descr="/home/user/white-label-mockup/.advicedeck/icon-forward-8EC9A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59723" y="3566160"/>
            <a:ext cx="274320" cy="274320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9088907" y="1965960"/>
            <a:ext cx="2416988" cy="3474720"/>
          </a:xfrm>
          <a:prstGeom prst="roundRect">
            <a:avLst>
              <a:gd name="adj" fmla="val 5297"/>
            </a:avLst>
          </a:prstGeom>
          <a:solidFill>
            <a:srgbClr val="145C40"/>
          </a:solidFill>
          <a:ln w="12700">
            <a:solidFill>
              <a:srgbClr val="145C40"/>
            </a:solidFill>
            <a:prstDash val="solid"/>
          </a:ln>
        </p:spPr>
      </p:sp>
      <p:sp>
        <p:nvSpPr>
          <p:cNvPr id="26" name="Shape 18"/>
          <p:cNvSpPr/>
          <p:nvPr/>
        </p:nvSpPr>
        <p:spPr>
          <a:xfrm>
            <a:off x="9363227" y="2258568"/>
            <a:ext cx="676656" cy="676656"/>
          </a:xfrm>
          <a:prstGeom prst="ellipse">
            <a:avLst/>
          </a:prstGeom>
          <a:solidFill>
            <a:srgbClr val="1B7350"/>
          </a:solidFill>
          <a:ln w="12700">
            <a:solidFill>
              <a:srgbClr val="1B7350"/>
            </a:solidFill>
            <a:prstDash val="solid"/>
          </a:ln>
        </p:spPr>
      </p:sp>
      <p:pic>
        <p:nvPicPr>
          <p:cNvPr id="27" name="Image 6" descr="/home/user/white-label-mockup/.advicedeck/icon-whatsapp-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18675" y="2414016"/>
            <a:ext cx="365760" cy="36576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10938967" y="22402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8EC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Text 20"/>
          <p:cNvSpPr txBox="1"/>
          <p:nvPr/>
        </p:nvSpPr>
        <p:spPr>
          <a:xfrm>
            <a:off x="9363227" y="3108960"/>
            <a:ext cx="18683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farmer gets it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BD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WhatsApp or SMS, in plain words.</a:t>
            </a:r>
            <a:endParaRPr lang="en-US" sz="1500" dirty="0"/>
          </a:p>
        </p:txBody>
      </p:sp>
      <p:sp>
        <p:nvSpPr>
          <p:cNvPr id="30" name="Text 21"/>
          <p:cNvSpPr txBox="1"/>
          <p:nvPr/>
        </p:nvSpPr>
        <p:spPr>
          <a:xfrm>
            <a:off x="9363227" y="4251960"/>
            <a:ext cx="18683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Fermer onu alır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BD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və ya SMS ilə, sadə sözlərlə.</a:t>
            </a:r>
            <a:endParaRPr lang="en-US" sz="1400" dirty="0"/>
          </a:p>
        </p:txBody>
      </p:sp>
      <p:sp>
        <p:nvSpPr>
          <p:cNvPr id="31" name="Text 22"/>
          <p:cNvSpPr txBox="1"/>
          <p:nvPr/>
        </p:nvSpPr>
        <p:spPr>
          <a:xfrm>
            <a:off x="685800" y="576072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we connect your product catalogue to the AI advice.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BD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Növbəti addım: məhsul kataloqunuzu süni intellekt məsləhətlərinə qoşuruq.</a:t>
            </a:r>
            <a:endParaRPr lang="en-US" sz="1500" dirty="0"/>
          </a:p>
        </p:txBody>
      </p:sp>
      <p:sp>
        <p:nvSpPr>
          <p:cNvPr id="32" name="Text 23"/>
          <p:cNvSpPr txBox="1"/>
          <p:nvPr/>
        </p:nvSpPr>
        <p:spPr>
          <a:xfrm>
            <a:off x="1077437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D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Wafra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 health, disease risk and advice — Wafra Farm</dc:title>
  <dc:subject>PptxGenJS Presentation</dc:subject>
  <dc:creator>Wafra</dc:creator>
  <cp:lastModifiedBy>Wafra</cp:lastModifiedBy>
  <cp:revision>1</cp:revision>
  <dcterms:created xsi:type="dcterms:W3CDTF">2026-09-24T22:12:46Z</dcterms:created>
  <dcterms:modified xsi:type="dcterms:W3CDTF">2026-09-24T22:12:46Z</dcterms:modified>
</cp:coreProperties>
</file>